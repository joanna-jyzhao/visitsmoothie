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9" r:id="rId4"/>
    <p:sldId id="260" r:id="rId5"/>
    <p:sldId id="262" r:id="rId6"/>
    <p:sldId id="265" r:id="rId7"/>
    <p:sldId id="267" r:id="rId8"/>
    <p:sldId id="273" r:id="rId9"/>
    <p:sldId id="269" r:id="rId10"/>
    <p:sldId id="274" r:id="rId11"/>
    <p:sldId id="270" r:id="rId12"/>
    <p:sldId id="271" r:id="rId13"/>
    <p:sldId id="272"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86458690-ED40-1775-0373-557629284D48}">
          <p14:sldIdLst>
            <p14:sldId id="256"/>
            <p14:sldId id="257"/>
            <p14:sldId id="259"/>
            <p14:sldId id="260"/>
            <p14:sldId id="262"/>
            <p14:sldId id="265"/>
            <p14:sldId id="267"/>
            <p14:sldId id="273"/>
            <p14:sldId id="269"/>
            <p14:sldId id="274"/>
          </p14:sldIdLst>
        </p14:section>
        <p14:section name="Appendix" id="{E9DE7FF0-8DCC-43EA-06B3-080D10EA5B23}">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850"/>
    <p:restoredTop sz="65205"/>
  </p:normalViewPr>
  <p:slideViewPr>
    <p:cSldViewPr snapToGrid="0" snapToObjects="1">
      <p:cViewPr varScale="1">
        <p:scale>
          <a:sx n="76" d="100"/>
          <a:sy n="76" d="100"/>
        </p:scale>
        <p:origin x="208"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399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Hi everyone, we’re VisitSmoothie. We’re here to make outpatient care</a:t>
            </a:r>
            <a:r>
              <a:rPr lang="en-US" altLang="zh-CN" dirty="0"/>
              <a:t> smoother.</a:t>
            </a:r>
            <a:br>
              <a:rPr lang="en-US" altLang="zh-CN" dirty="0"/>
            </a:br>
            <a:endParaRPr lang="en-US" altLang="zh-CN" sz="1200" b="1"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Imagine walking into an outpatient clinic knowing your body is </a:t>
            </a:r>
            <a:r>
              <a:rPr lang="en-US" altLang="zh-CN" sz="1200" b="1" kern="1200" dirty="0" err="1">
                <a:solidFill>
                  <a:schemeClr val="tx1"/>
                </a:solidFill>
                <a:effectLst/>
                <a:latin typeface="+mn-lt"/>
                <a:ea typeface="+mn-ea"/>
                <a:cs typeface="+mn-cs"/>
              </a:rPr>
              <a:t>uncomfort</a:t>
            </a:r>
            <a:r>
              <a:rPr lang="en-US" altLang="zh-CN" sz="1200" b="1" kern="1200" dirty="0">
                <a:solidFill>
                  <a:schemeClr val="tx1"/>
                </a:solidFill>
                <a:effectLst/>
                <a:latin typeface="+mn-lt"/>
                <a:ea typeface="+mn-ea"/>
                <a:cs typeface="+mn-cs"/>
              </a:rPr>
              <a:t>—</a:t>
            </a:r>
            <a:r>
              <a:rPr lang="zh-CN" altLang="zh-CN" b="1" dirty="0"/>
              <a:t>but struggling to explain it clearly.</a:t>
            </a:r>
            <a:br>
              <a:rPr lang="zh-CN" altLang="zh-CN" dirty="0"/>
            </a:br>
            <a:r>
              <a:rPr lang="zh-CN" altLang="zh-CN" dirty="0"/>
              <a:t>The doctor asks, “What’s going on?” but the clock is already ticking. There isn’t enough time to slowly reconstruct when it started</a:t>
            </a:r>
            <a:r>
              <a:rPr lang="en-US" altLang="zh-CN" dirty="0"/>
              <a:t> </a:t>
            </a:r>
            <a:r>
              <a:rPr lang="zh-CN" altLang="zh-CN" dirty="0"/>
              <a:t>or what medicine you’ve taken.</a:t>
            </a:r>
          </a:p>
          <a:p>
            <a:r>
              <a:rPr lang="zh-CN" altLang="zh-CN" dirty="0"/>
              <a:t>A few minutes later, the visit is over. You leave with a prescription, a test order, and several instructions. But on the way home, new questions appear: </a:t>
            </a:r>
            <a:r>
              <a:rPr lang="zh-CN" altLang="zh-CN" b="1" dirty="0"/>
              <a:t>What exactly am I supposed to do? When should I come back? And why was my treatment designed this way?</a:t>
            </a:r>
            <a:endParaRPr lang="zh-CN" altLang="zh-CN" dirty="0"/>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zh-CN" altLang="zh-CN" dirty="0"/>
              <a:t>And this </a:t>
            </a:r>
            <a:r>
              <a:rPr lang="en-US" altLang="zh-CN" dirty="0"/>
              <a:t>actually </a:t>
            </a:r>
            <a:r>
              <a:rPr lang="zh-CN" altLang="zh-CN" dirty="0"/>
              <a:t>happens at scale.</a:t>
            </a:r>
            <a:endParaRPr lang="en-US" altLang="zh-CN" dirty="0"/>
          </a:p>
          <a:p>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China handled more than 10 billion medical visits in 2024. In one large tertiary hospital, patients waited roughly 40 minutes for a consultation that lasted only around three minutes. And across a national survey of nearly 12,000 outpatients, communication with doctors and time spent with doctors were both important drivers of patient satisfaction.</a:t>
            </a:r>
          </a:p>
          <a:p>
            <a:r>
              <a:rPr lang="en-US" altLang="zh-CN" sz="1200" kern="1200" dirty="0">
                <a:solidFill>
                  <a:schemeClr val="tx1"/>
                </a:solidFill>
                <a:effectLst/>
                <a:latin typeface="+mn-lt"/>
                <a:ea typeface="+mn-ea"/>
                <a:cs typeface="+mn-cs"/>
              </a:rPr>
              <a:t>So the problem is that both patient and doctor sides are trying to exchange complex information inside an extremely compressed interaction.</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 And our interviews showed us what that looks like in real life.</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Before the visit</a:t>
            </a:r>
            <a:r>
              <a:rPr lang="en-US" altLang="zh-CN" sz="1200" kern="1200" dirty="0">
                <a:solidFill>
                  <a:schemeClr val="tx1"/>
                </a:solidFill>
                <a:effectLst/>
                <a:latin typeface="+mn-lt"/>
                <a:ea typeface="+mn-ea"/>
                <a:cs typeface="+mn-cs"/>
              </a:rPr>
              <a:t>, a participant told us that history-taking itself takes time, and important information can be missed. </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After the visit</a:t>
            </a:r>
            <a:r>
              <a:rPr lang="en-US" altLang="zh-CN" sz="1200" kern="1200" dirty="0">
                <a:solidFill>
                  <a:schemeClr val="tx1"/>
                </a:solidFill>
                <a:effectLst/>
                <a:latin typeface="+mn-lt"/>
                <a:ea typeface="+mn-ea"/>
                <a:cs typeface="+mn-cs"/>
              </a:rPr>
              <a:t>, a chronic-care patient told us that even with a prescription in hand, she still wanted to understand </a:t>
            </a:r>
            <a:r>
              <a:rPr lang="en-US" altLang="zh-CN" sz="1200" b="1" kern="1200" dirty="0">
                <a:solidFill>
                  <a:schemeClr val="tx1"/>
                </a:solidFill>
                <a:effectLst/>
                <a:latin typeface="+mn-lt"/>
                <a:ea typeface="+mn-ea"/>
                <a:cs typeface="+mn-cs"/>
              </a:rPr>
              <a:t>why that medication was chosen, why she needed it for that long, what risks to watch for.</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So the information gap happens on both sides of the visit. Important patient information struggles to get in, and important clinical information struggles to come back out clearly.</a:t>
            </a:r>
            <a:r>
              <a:rPr lang="en-US" altLang="zh-CN" sz="1200" kern="1200" dirty="0">
                <a:solidFill>
                  <a:schemeClr val="tx1"/>
                </a:solidFill>
                <a:effectLst/>
                <a:latin typeface="+mn-lt"/>
                <a:ea typeface="+mn-ea"/>
                <a:cs typeface="+mn-cs"/>
              </a:rPr>
              <a:t> Therefore, adult outpatients in China visiting public hospitals </a:t>
            </a:r>
            <a:r>
              <a:rPr lang="en-US" altLang="zh-CN" sz="1200" b="1" kern="1200" dirty="0">
                <a:solidFill>
                  <a:schemeClr val="tx1"/>
                </a:solidFill>
                <a:effectLst/>
                <a:latin typeface="+mn-lt"/>
                <a:ea typeface="+mn-ea"/>
                <a:cs typeface="+mn-cs"/>
              </a:rPr>
              <a:t>need a way to give the doctor their complete story before the visit, and to understand and act on the plan after it</a:t>
            </a:r>
          </a:p>
          <a:p>
            <a:endParaRPr lang="en-US" altLang="zh-CN" sz="1200" b="1"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because a visit of a few minutes leaves little room to explain fully or to ask.</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kern="1200" dirty="0" err="1">
                <a:solidFill>
                  <a:schemeClr val="tx1"/>
                </a:solidFill>
                <a:effectLst/>
                <a:latin typeface="+mn-lt"/>
                <a:ea typeface="+mn-ea"/>
                <a:cs typeface="+mn-cs"/>
              </a:rPr>
              <a:t>VisitSmoothie</a:t>
            </a:r>
            <a:r>
              <a:rPr lang="en-US" altLang="zh-CN" sz="1200" b="1" kern="1200" dirty="0">
                <a:solidFill>
                  <a:schemeClr val="tx1"/>
                </a:solidFill>
                <a:effectLst/>
                <a:latin typeface="+mn-lt"/>
                <a:ea typeface="+mn-ea"/>
                <a:cs typeface="+mn-cs"/>
              </a:rPr>
              <a:t> is an agentic outpatient companion that helps patients articulate their symptoms before the visit and make sense of what comes after. Before the appointment, it uses the patient’s history and current symptoms to ask only the missing questions and generate a patient-reviewed brief for the doctor. Afterward, it turns prescription and visit audio into a clear Clinical Plan, answers questions within safe boundaries, and carries the visit forward through reminders and longitudinal records.</a:t>
            </a: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How we measure better care</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Communication &amp; Satisfaction</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Do patients feel better able to communicate their concerns and more satisfied with the visit?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Understanding &amp; Confidence</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Do patients understand their treatment plan and feel confident about what to do next?</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Adherence &amp; Follow-through</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Do patients follow medications, tests, and follow-up plans more consistently?</a:t>
            </a:r>
            <a:endParaRPr lang="zh-CN" altLang="zh-CN" sz="1200" kern="1200" dirty="0">
              <a:solidFill>
                <a:schemeClr val="tx1"/>
              </a:solidFill>
              <a:effectLst/>
              <a:latin typeface="+mn-lt"/>
              <a:ea typeface="+mn-ea"/>
              <a:cs typeface="+mn-cs"/>
            </a:endParaRPr>
          </a:p>
          <a:p>
            <a:r>
              <a:rPr lang="en-US" altLang="zh-CN" sz="1200" b="1" kern="1200" dirty="0">
                <a:solidFill>
                  <a:schemeClr val="tx1"/>
                </a:solidFill>
                <a:effectLst/>
                <a:latin typeface="+mn-lt"/>
                <a:ea typeface="+mn-ea"/>
                <a:cs typeface="+mn-cs"/>
              </a:rPr>
              <a:t>Patient Outcomes</a:t>
            </a:r>
            <a:r>
              <a:rPr lang="zh-CN" altLang="zh-CN"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Over time, do patients report better symptom and health outcomes?</a:t>
            </a:r>
            <a:endParaRPr lang="zh-CN" altLang="zh-C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LUCAS · CORE · 40 s
Here is the workflow. Before the doctor: the patient describes the problem by speaking, typing, using a body map or a photo. The model compares three things: the profile, similar past episodes in the record, and what this draft already knows, and it asks one missing item. The patient answers, and the loop repeats until the gaps are filled or the patient says that's all. Then the model writes the page for the doctor. The patient can edit it or regenerate it, and only Save puts it into the record. Rules, not the model, handle danger signals and the urgency and department hint.
The visit has no AI.
After the doctor: the patient chooses whether to link this visit to the earlier record, then records audio or photographs the record. The model reads it with the profile and drafts the Clinical Plan. The patient can ask about any line, and the model explains it from this plan and the profile. The patient ticks which lines become reminders and saves.
On Save, the app writes the memory: the merged record, reminders and explanations. A new long-term medicine changes the profile only after a separate yes. At the next visit, the model reads that saved memory, so questions build on the last plan. Ask at home reads the same memory.
Source: Joanna's written product summary.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ROBIN · CORE · 5 s intro, then the 3-minute live demo
Let us show you Mr. Lin. He is fictional and his records are preloaded.
DEMO SCRIPT
0:00–0:20 Open /demo/lin. Say he is fictional, 46, with left-knee pain.
0:20–1:00 Before: show his words, one missing-item question, and the doctor page. Point out the similar past episodes the agent found.
1:00–2:10 After: open the visit. Cause under investigation, no new medicine, follow-up in one week. Tap the follow-up line and ask about it.
2:10–2:45 Home: show the reminder to bring records and medicine boxes; ask what to bring and show the answer comes from his record.
2:45–3:00 Point out that his blood-pressure medicine stays unconfirmed.
SETUP: open http://127.0.0.1:3000/demo/lin once before presenting; reopening reseeds the case, so do not refresh. AI responses are in Chinese; narrate in English. Keep a screen recording as backup.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NANCY · OPTIONAL · 40 s (team member's content; wording adjusted for accuracy)
1. Symptom checkers (Ada Health, Buoy Health, WebMD Symptom Checker): they focus on the stage before a diagnosis. Once the patient sees the doctor, their role largely ends. VisitSmoothie also helps before the visit, with follow-up questions and a page for the doctor, and then continues after the consultation.
2. Ambient AI scribes (Abridge, Microsoft DAX, Nabla): very powerful, but built for clinicians and their documentation. Their output is written for doctors, not for a patient trying to follow the plan. VisitSmoothie is for the patient: it turns what they bring home into a plan they can act on.
3. Patient portals (Epic MyChart, hospital apps): they share visit instructions and often let patients message the care team, but answers depend on busy staff and the instructions are not explained line by line. VisitSmoothie lets the patient ask about any line right away, and points questions that need a clinician back to the doctor.
4. General LLMs (ChatGPT, Claude): when patients paste a prescription, a general model answers from general medical knowledge, and its advice may not match what the doctor intended. VisitSmoothie quotes dosage only from the doctor's orders, labels general drug-label content as general, and sends personal reasons back to the doctor.
ACCURACY NOTES for the presenter: (a) MyChart does offer messaging with the care team, so do not say patients cannot ask; (b) do not claim VisitSmoothie lets patients choose an explanation depth unless that feature is in the demo; (c) do not claim it automatically builds a 'next-visit question list' from explanations unless the team confirms it — the doctor page does include questions for the doctor.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备注占位符 2"/>
          <p:cNvSpPr>
            <a:spLocks noGrp="1"/>
          </p:cNvSpPr>
          <p:nvPr>
            <p:ph type="body" idx="1"/>
          </p:nvPr>
        </p:nvSpPr>
        <p:spPr>
          <a:xfrm>
            <a:off x="685800" y="5867400"/>
            <a:ext cx="5486400" cy="4800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Our primary users are patients, but our long-term paying customers are hospitals and health systems. We envision a B2B2C model, where hospitals pay an annual software license plus a usage-based fee to offer </a:t>
            </a:r>
            <a:r>
              <a:rPr lang="en-US" altLang="zh-CN" sz="1200" kern="1200" dirty="0" err="1">
                <a:solidFill>
                  <a:schemeClr val="tx1"/>
                </a:solidFill>
                <a:effectLst/>
                <a:latin typeface="+mn-lt"/>
                <a:ea typeface="+mn-ea"/>
                <a:cs typeface="+mn-cs"/>
              </a:rPr>
              <a:t>VisitSmoothie</a:t>
            </a:r>
            <a:r>
              <a:rPr lang="en-US" altLang="zh-CN" sz="1200" kern="1200" dirty="0">
                <a:solidFill>
                  <a:schemeClr val="tx1"/>
                </a:solidFill>
                <a:effectLst/>
                <a:latin typeface="+mn-lt"/>
                <a:ea typeface="+mn-ea"/>
                <a:cs typeface="+mn-cs"/>
              </a:rPr>
              <a:t> to their patients.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We would start with one high-volume outpatient department, run a small patient-side pilot without requiring deep hospital-system integration, and then expand if we demonstrate improvements in patient experience and continuity. </a:t>
            </a:r>
            <a:endParaRPr lang="zh-CN" altLang="zh-CN" sz="1200" kern="1200" dirty="0">
              <a:solidFill>
                <a:schemeClr val="tx1"/>
              </a:solidFill>
              <a:effectLst/>
              <a:latin typeface="+mn-lt"/>
              <a:ea typeface="+mn-ea"/>
              <a:cs typeface="+mn-cs"/>
            </a:endParaRPr>
          </a:p>
          <a:p>
            <a:endParaRPr kumimoji="1" lang="zh-CN" altLang="en-US" dirty="0"/>
          </a:p>
        </p:txBody>
      </p:sp>
    </p:spTree>
    <p:extLst>
      <p:ext uri="{BB962C8B-B14F-4D97-AF65-F5344CB8AC3E}">
        <p14:creationId xmlns:p14="http://schemas.microsoft.com/office/powerpoint/2010/main" val="2976014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JOANNA · CORE · 20 s
We are Tri Team. I led product; Nancy researched competitors; Ronnie, Robin and Lucas built the product, with Robin on the demo and Lucas on the technology. Three of us interviewed our own families.
Patients cannot always be cured, but they should always be able to tell their story fully and understand what to do next. Make care make sense. Next, we want to test one real before-and-after cycle with a clinician reviewing every output. Thank you.
Q&amp;A (Joanna receives each question and hands off): competition → Nancy; implementation → Lucas, Robin, Ronnie.
- General chatbot? It follows one visit end to end and remembers only what the patient saved.
- Medical advice? No. It organizes the patient's story and explains what the clinician recorded.
- Evidence? Three family interview sets and a working prototype on synthetic data. No clinical or revenue results yet.
- English? Interface partly translated; AI responses and safety rules are Chinese today.
- Data? Synthetic in the demo; Zhipu GLM processes inputs; we keep only text; encrypted at rest.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备注占位符 2"/>
          <p:cNvSpPr>
            <a:spLocks noGrp="1"/>
          </p:cNvSpPr>
          <p:nvPr>
            <p:ph type="body" idx="1"/>
          </p:nvPr>
        </p:nvSpPr>
        <p:spPr>
          <a:xfrm>
            <a:off x="685800" y="5867400"/>
            <a:ext cx="5486400" cy="4800600"/>
          </a:xfrm>
          <a:prstGeom prst="rect">
            <a:avLst/>
          </a:prstGeom>
        </p:spPr>
        <p:txBody>
          <a:bodyPr/>
          <a:lstStyle/>
          <a:p>
            <a:r>
              <a:rPr kumimoji="1" lang="en-US" altLang="zh-CN" dirty="0"/>
              <a:t>Make Care Make Sense</a:t>
            </a:r>
          </a:p>
          <a:p>
            <a:r>
              <a:rPr kumimoji="1" lang="en-US" altLang="zh-CN" dirty="0"/>
              <a:t>Make you visit smoother</a:t>
            </a:r>
            <a:endParaRPr kumimoji="1" lang="zh-CN" altLang="en-US" dirty="0"/>
          </a:p>
        </p:txBody>
      </p:sp>
    </p:spTree>
    <p:extLst>
      <p:ext uri="{BB962C8B-B14F-4D97-AF65-F5344CB8AC3E}">
        <p14:creationId xmlns:p14="http://schemas.microsoft.com/office/powerpoint/2010/main" val="2654466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only. Source: VisitSmoothie / AfterDoc interview report, 3 Oct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only.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only. Source: README.md, docs/交接说明.md, src/lib/ai/client.ts, src/lib/server/secure-db.ts.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2"/>
          <a:stretch>
            <a:fillRect/>
          </a:stretch>
        </p:blipFill>
        <p:spPr>
          <a:xfrm>
            <a:off x="548640" y="6327648"/>
            <a:ext cx="960120" cy="320040"/>
          </a:xfrm>
          <a:prstGeom prst="rect">
            <a:avLst/>
          </a:prstGeom>
        </p:spPr>
      </p:pic>
      <p:sp>
        <p:nvSpPr>
          <p:cNvPr id="3" name="Text 0"/>
          <p:cNvSpPr>
            <a:spLocks noGrp="1"/>
          </p:cNvSpPr>
          <p:nvPr>
            <p:ph type="title" idx="101" hasCustomPrompt="1"/>
          </p:nvPr>
        </p:nvSpPr>
        <p:spPr>
          <a:xfrm>
            <a:off x="548640" y="365760"/>
            <a:ext cx="11064240" cy="82296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2296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4.png"/><Relationship Id="rId7" Type="http://schemas.openxmlformats.org/officeDocument/2006/relationships/image" Target="../media/image17.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design" descr="cover_c.png"/>
          <p:cNvPicPr>
            <a:picLocks noChangeAspect="1"/>
          </p:cNvPicPr>
          <p:nvPr/>
        </p:nvPicPr>
        <p:blipFill>
          <a:blip r:embed="rId3"/>
          <a:srcRect/>
          <a:stretch/>
        </p:blipFill>
        <p:spPr>
          <a:xfrm>
            <a:off x="0" y="0"/>
            <a:ext cx="12191695" cy="6858000"/>
          </a:xfrm>
          <a:prstGeom prst="rect">
            <a:avLst/>
          </a:prstGeom>
        </p:spPr>
      </p:pic>
      <p:pic>
        <p:nvPicPr>
          <p:cNvPr id="4" name="图片 3">
            <a:extLst>
              <a:ext uri="{FF2B5EF4-FFF2-40B4-BE49-F238E27FC236}">
                <a16:creationId xmlns:a16="http://schemas.microsoft.com/office/drawing/2014/main" id="{8F3D7E53-9B05-E941-70BA-786427FE184D}"/>
              </a:ext>
            </a:extLst>
          </p:cNvPr>
          <p:cNvPicPr>
            <a:picLocks noChangeAspect="1"/>
          </p:cNvPicPr>
          <p:nvPr/>
        </p:nvPicPr>
        <p:blipFill>
          <a:blip r:embed="rId4"/>
          <a:stretch>
            <a:fillRect/>
          </a:stretch>
        </p:blipFill>
        <p:spPr>
          <a:xfrm>
            <a:off x="-1" y="0"/>
            <a:ext cx="12191695" cy="68587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3880" y="1808157"/>
            <a:ext cx="11064240" cy="685800"/>
          </a:xfrm>
          <a:prstGeom prst="rect">
            <a:avLst/>
          </a:prstGeom>
          <a:noFill/>
          <a:ln/>
        </p:spPr>
        <p:txBody>
          <a:bodyPr wrap="square" lIns="0" tIns="0" rIns="0" bIns="0" rtlCol="0" anchor="t"/>
          <a:lstStyle/>
          <a:p>
            <a:pPr algn="ctr"/>
            <a:r>
              <a:rPr lang="en-US" altLang="zh-CN" dirty="0"/>
              <a:t>Problem: </a:t>
            </a:r>
            <a:r>
              <a:rPr lang="zh-CN" altLang="zh-CN" dirty="0"/>
              <a:t>The Visit Is Short.</a:t>
            </a:r>
            <a:r>
              <a:rPr lang="zh-CN" altLang="en-US" dirty="0"/>
              <a:t> </a:t>
            </a:r>
            <a:r>
              <a:rPr lang="zh-CN" altLang="zh-CN" dirty="0"/>
              <a:t>The Information Isn’t.</a:t>
            </a:r>
            <a:endParaRPr lang="en-US" sz="3000" dirty="0"/>
          </a:p>
        </p:txBody>
      </p:sp>
      <p:sp>
        <p:nvSpPr>
          <p:cNvPr id="3" name="Text 1"/>
          <p:cNvSpPr txBox="1"/>
          <p:nvPr/>
        </p:nvSpPr>
        <p:spPr>
          <a:xfrm>
            <a:off x="563880" y="2909174"/>
            <a:ext cx="3566160" cy="731520"/>
          </a:xfrm>
          <a:prstGeom prst="rect">
            <a:avLst/>
          </a:prstGeom>
          <a:noFill/>
          <a:ln/>
        </p:spPr>
        <p:txBody>
          <a:bodyPr wrap="square" lIns="0" tIns="0" rIns="0" bIns="0" rtlCol="0" anchor="ctr"/>
          <a:lstStyle/>
          <a:p>
            <a:pPr marL="0" indent="0">
              <a:buNone/>
            </a:pPr>
            <a:r>
              <a:rPr lang="en-US" sz="3800" b="1" dirty="0">
                <a:solidFill>
                  <a:schemeClr val="bg1"/>
                </a:solidFill>
                <a:latin typeface="Arial" pitchFamily="34" charset="0"/>
                <a:ea typeface="Arial" pitchFamily="34" charset="-122"/>
                <a:cs typeface="Arial" pitchFamily="34" charset="-120"/>
              </a:rPr>
              <a:t>10.1 billion</a:t>
            </a:r>
            <a:endParaRPr lang="en-US" sz="3800" dirty="0"/>
          </a:p>
        </p:txBody>
      </p:sp>
      <p:sp>
        <p:nvSpPr>
          <p:cNvPr id="4" name="Text 2"/>
          <p:cNvSpPr txBox="1"/>
          <p:nvPr/>
        </p:nvSpPr>
        <p:spPr>
          <a:xfrm>
            <a:off x="563880" y="3640694"/>
            <a:ext cx="3383280" cy="685800"/>
          </a:xfrm>
          <a:prstGeom prst="rect">
            <a:avLst/>
          </a:prstGeom>
          <a:noFill/>
          <a:ln/>
        </p:spPr>
        <p:txBody>
          <a:bodyPr wrap="square" lIns="0" tIns="0" rIns="0" bIns="0" rtlCol="0" anchor="t"/>
          <a:lstStyle/>
          <a:p>
            <a:pPr marL="0" indent="0">
              <a:buNone/>
            </a:pPr>
            <a:r>
              <a:rPr lang="en-US" sz="1300" dirty="0">
                <a:solidFill>
                  <a:schemeClr val="accent2"/>
                </a:solidFill>
                <a:latin typeface="Arial" pitchFamily="34" charset="0"/>
                <a:ea typeface="Arial" pitchFamily="34" charset="-122"/>
                <a:cs typeface="Arial" pitchFamily="34" charset="-120"/>
              </a:rPr>
              <a:t>healthcare visits in China in 2024, national statistics</a:t>
            </a:r>
            <a:endParaRPr lang="en-US" sz="1300" dirty="0"/>
          </a:p>
        </p:txBody>
      </p:sp>
      <p:sp>
        <p:nvSpPr>
          <p:cNvPr id="5" name="Text 3"/>
          <p:cNvSpPr txBox="1"/>
          <p:nvPr/>
        </p:nvSpPr>
        <p:spPr>
          <a:xfrm>
            <a:off x="4358640" y="2909174"/>
            <a:ext cx="3566160" cy="731520"/>
          </a:xfrm>
          <a:prstGeom prst="rect">
            <a:avLst/>
          </a:prstGeom>
          <a:noFill/>
          <a:ln/>
        </p:spPr>
        <p:txBody>
          <a:bodyPr wrap="square" lIns="0" tIns="0" rIns="0" bIns="0" rtlCol="0" anchor="ctr"/>
          <a:lstStyle/>
          <a:p>
            <a:pPr marL="0" indent="0">
              <a:buNone/>
            </a:pPr>
            <a:r>
              <a:rPr lang="en-US" sz="3800" b="1" dirty="0">
                <a:solidFill>
                  <a:schemeClr val="accent3"/>
                </a:solidFill>
                <a:latin typeface="Arial" pitchFamily="34" charset="0"/>
                <a:ea typeface="Arial" pitchFamily="34" charset="-122"/>
                <a:cs typeface="Arial" pitchFamily="34" charset="-120"/>
              </a:rPr>
              <a:t>~3 min</a:t>
            </a:r>
            <a:endParaRPr lang="en-US" sz="3800" dirty="0"/>
          </a:p>
        </p:txBody>
      </p:sp>
      <p:sp>
        <p:nvSpPr>
          <p:cNvPr id="6" name="Text 4"/>
          <p:cNvSpPr txBox="1"/>
          <p:nvPr/>
        </p:nvSpPr>
        <p:spPr>
          <a:xfrm>
            <a:off x="4358640" y="3640694"/>
            <a:ext cx="2831123" cy="685800"/>
          </a:xfrm>
          <a:prstGeom prst="rect">
            <a:avLst/>
          </a:prstGeom>
          <a:noFill/>
          <a:ln/>
        </p:spPr>
        <p:txBody>
          <a:bodyPr wrap="square" lIns="0" tIns="0" rIns="0" bIns="0" rtlCol="0" anchor="t"/>
          <a:lstStyle/>
          <a:p>
            <a:pPr marL="0" indent="0">
              <a:buNone/>
            </a:pPr>
            <a:r>
              <a:rPr lang="en-US" sz="1300" dirty="0">
                <a:solidFill>
                  <a:schemeClr val="accent2"/>
                </a:solidFill>
                <a:latin typeface="Arial" pitchFamily="34" charset="0"/>
                <a:ea typeface="Arial" pitchFamily="34" charset="-122"/>
                <a:cs typeface="Arial" pitchFamily="34" charset="-120"/>
              </a:rPr>
              <a:t>average consultation after ~40 min of waiting, in a study of one large Chinese hospital</a:t>
            </a:r>
            <a:endParaRPr lang="en-US" sz="1300" dirty="0"/>
          </a:p>
        </p:txBody>
      </p:sp>
      <p:sp>
        <p:nvSpPr>
          <p:cNvPr id="7" name="Text 5"/>
          <p:cNvSpPr txBox="1"/>
          <p:nvPr/>
        </p:nvSpPr>
        <p:spPr>
          <a:xfrm>
            <a:off x="7601243" y="2909174"/>
            <a:ext cx="4536831" cy="731520"/>
          </a:xfrm>
          <a:prstGeom prst="rect">
            <a:avLst/>
          </a:prstGeom>
          <a:noFill/>
          <a:ln/>
        </p:spPr>
        <p:txBody>
          <a:bodyPr wrap="square" lIns="0" tIns="0" rIns="0" bIns="0" rtlCol="0" anchor="ctr"/>
          <a:lstStyle/>
          <a:p>
            <a:pPr marL="0" indent="0">
              <a:buNone/>
            </a:pPr>
            <a:r>
              <a:rPr lang="en-US" sz="3800" b="1" dirty="0">
                <a:solidFill>
                  <a:schemeClr val="bg1"/>
                </a:solidFill>
                <a:latin typeface="Arial" pitchFamily="34" charset="0"/>
                <a:ea typeface="Arial" pitchFamily="34" charset="-122"/>
                <a:cs typeface="Arial" pitchFamily="34" charset="-120"/>
              </a:rPr>
              <a:t>11,959 outpatients</a:t>
            </a:r>
            <a:endParaRPr lang="en-US" sz="3800" dirty="0"/>
          </a:p>
        </p:txBody>
      </p:sp>
      <p:sp>
        <p:nvSpPr>
          <p:cNvPr id="8" name="Text 6"/>
          <p:cNvSpPr txBox="1"/>
          <p:nvPr/>
        </p:nvSpPr>
        <p:spPr>
          <a:xfrm>
            <a:off x="7627034" y="3625747"/>
            <a:ext cx="3383280" cy="685800"/>
          </a:xfrm>
          <a:prstGeom prst="rect">
            <a:avLst/>
          </a:prstGeom>
          <a:noFill/>
          <a:ln/>
        </p:spPr>
        <p:txBody>
          <a:bodyPr wrap="square" lIns="0" tIns="0" rIns="0" bIns="0" rtlCol="0" anchor="t"/>
          <a:lstStyle/>
          <a:p>
            <a:r>
              <a:rPr lang="en-US" sz="1300" dirty="0">
                <a:solidFill>
                  <a:schemeClr val="accent2"/>
                </a:solidFill>
                <a:latin typeface="Arial" pitchFamily="34" charset="0"/>
                <a:ea typeface="Arial" pitchFamily="34" charset="-122"/>
                <a:cs typeface="Arial" pitchFamily="34" charset="-120"/>
              </a:rPr>
              <a:t>communication &amp; time with doctors shape satisfaction</a:t>
            </a:r>
            <a:endParaRPr lang="en-US" sz="1300" dirty="0"/>
          </a:p>
        </p:txBody>
      </p:sp>
      <p:pic>
        <p:nvPicPr>
          <p:cNvPr id="23" name="图片 22">
            <a:extLst>
              <a:ext uri="{FF2B5EF4-FFF2-40B4-BE49-F238E27FC236}">
                <a16:creationId xmlns:a16="http://schemas.microsoft.com/office/drawing/2014/main" id="{AA80D217-D644-891F-83D5-7779FA58E408}"/>
              </a:ext>
            </a:extLst>
          </p:cNvPr>
          <p:cNvPicPr>
            <a:picLocks noChangeAspect="1"/>
          </p:cNvPicPr>
          <p:nvPr/>
        </p:nvPicPr>
        <p:blipFill>
          <a:blip r:embed="rId3"/>
          <a:stretch>
            <a:fillRect/>
          </a:stretch>
        </p:blipFill>
        <p:spPr>
          <a:xfrm>
            <a:off x="0" y="0"/>
            <a:ext cx="3184071" cy="10613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63880" y="1266618"/>
            <a:ext cx="11064240" cy="619833"/>
          </a:xfrm>
          <a:prstGeom prst="rect">
            <a:avLst/>
          </a:prstGeom>
          <a:noFill/>
          <a:ln/>
        </p:spPr>
        <p:txBody>
          <a:bodyPr wrap="square" lIns="0" tIns="0" rIns="0" bIns="0" rtlCol="0" anchor="t"/>
          <a:lstStyle/>
          <a:p>
            <a:pPr algn="ctr"/>
            <a:r>
              <a:rPr lang="zh-CN" altLang="zh-CN" dirty="0"/>
              <a:t>What Patients Struggle With Before and After the Visit</a:t>
            </a:r>
            <a:endParaRPr lang="en-US" sz="3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
        <p:nvSpPr>
          <p:cNvPr id="17" name="quote card 1">
            <a:extLst>
              <a:ext uri="{FF2B5EF4-FFF2-40B4-BE49-F238E27FC236}">
                <a16:creationId xmlns:a16="http://schemas.microsoft.com/office/drawing/2014/main" id="{ED021EB2-68B2-5F9B-6F41-DB5F24E68C98}"/>
              </a:ext>
            </a:extLst>
          </p:cNvPr>
          <p:cNvSpPr/>
          <p:nvPr/>
        </p:nvSpPr>
        <p:spPr>
          <a:xfrm>
            <a:off x="472440" y="2074557"/>
            <a:ext cx="5349240" cy="2331720"/>
          </a:xfrm>
          <a:prstGeom prst="roundRect">
            <a:avLst>
              <a:gd name="adj" fmla="val 4706"/>
            </a:avLst>
          </a:prstGeom>
          <a:solidFill>
            <a:schemeClr val="accent1"/>
          </a:solidFill>
          <a:ln/>
        </p:spPr>
        <p:txBody>
          <a:bodyPr/>
          <a:lstStyle/>
          <a:p>
            <a:endParaRPr lang="zh-CN" altLang="en-US"/>
          </a:p>
        </p:txBody>
      </p:sp>
      <p:sp>
        <p:nvSpPr>
          <p:cNvPr id="18" name="Text 8">
            <a:extLst>
              <a:ext uri="{FF2B5EF4-FFF2-40B4-BE49-F238E27FC236}">
                <a16:creationId xmlns:a16="http://schemas.microsoft.com/office/drawing/2014/main" id="{F2629ACB-81DB-36B9-2784-9C6E1F0DC495}"/>
              </a:ext>
            </a:extLst>
          </p:cNvPr>
          <p:cNvSpPr txBox="1"/>
          <p:nvPr/>
        </p:nvSpPr>
        <p:spPr>
          <a:xfrm>
            <a:off x="792480" y="2239149"/>
            <a:ext cx="4572000" cy="320040"/>
          </a:xfrm>
          <a:prstGeom prst="rect">
            <a:avLst/>
          </a:prstGeom>
          <a:noFill/>
          <a:ln/>
        </p:spPr>
        <p:txBody>
          <a:bodyPr wrap="square" lIns="0" tIns="0" rIns="0" bIns="0" rtlCol="0" anchor="ctr"/>
          <a:lstStyle/>
          <a:p>
            <a:pPr marL="0" indent="0">
              <a:buNone/>
            </a:pPr>
            <a:r>
              <a:rPr lang="en-US" sz="1200" b="1" kern="0" spc="100" dirty="0">
                <a:solidFill>
                  <a:schemeClr val="accent3"/>
                </a:solidFill>
                <a:latin typeface="Arial" pitchFamily="34" charset="0"/>
                <a:ea typeface="Arial" pitchFamily="34" charset="-122"/>
                <a:cs typeface="Arial" pitchFamily="34" charset="-120"/>
              </a:rPr>
              <a:t>BEFORE THE VISIT</a:t>
            </a:r>
            <a:endParaRPr lang="en-US" sz="1200" dirty="0"/>
          </a:p>
        </p:txBody>
      </p:sp>
      <p:sp>
        <p:nvSpPr>
          <p:cNvPr id="19" name="Text 9">
            <a:extLst>
              <a:ext uri="{FF2B5EF4-FFF2-40B4-BE49-F238E27FC236}">
                <a16:creationId xmlns:a16="http://schemas.microsoft.com/office/drawing/2014/main" id="{4A172E7B-DCEA-2F1D-DA21-29CA954180E6}"/>
              </a:ext>
            </a:extLst>
          </p:cNvPr>
          <p:cNvSpPr txBox="1"/>
          <p:nvPr/>
        </p:nvSpPr>
        <p:spPr>
          <a:xfrm>
            <a:off x="792480" y="2604909"/>
            <a:ext cx="4709160" cy="1234440"/>
          </a:xfrm>
          <a:prstGeom prst="rect">
            <a:avLst/>
          </a:prstGeom>
          <a:noFill/>
          <a:ln/>
        </p:spPr>
        <p:txBody>
          <a:bodyPr wrap="square" lIns="0" tIns="0" rIns="0" bIns="0" rtlCol="0" anchor="t"/>
          <a:lstStyle/>
          <a:p>
            <a:r>
              <a:rPr lang="en-US" sz="1600" i="1" dirty="0">
                <a:solidFill>
                  <a:schemeClr val="bg1"/>
                </a:solidFill>
                <a:latin typeface="Arial" pitchFamily="34" charset="0"/>
                <a:ea typeface="Arial" pitchFamily="34" charset="-122"/>
                <a:cs typeface="Arial" pitchFamily="34" charset="-120"/>
              </a:rPr>
              <a:t>“History-taking takes time. In short outpatient visits, important details, such as symptom progression, medications, exposure history, and family history, can be missed.”</a:t>
            </a:r>
            <a:endParaRPr lang="en-US" sz="1600" dirty="0"/>
          </a:p>
        </p:txBody>
      </p:sp>
      <p:sp>
        <p:nvSpPr>
          <p:cNvPr id="20" name="Text 10">
            <a:extLst>
              <a:ext uri="{FF2B5EF4-FFF2-40B4-BE49-F238E27FC236}">
                <a16:creationId xmlns:a16="http://schemas.microsoft.com/office/drawing/2014/main" id="{664AE6E4-246D-869D-FF8C-49AF519D635D}"/>
              </a:ext>
            </a:extLst>
          </p:cNvPr>
          <p:cNvSpPr txBox="1"/>
          <p:nvPr/>
        </p:nvSpPr>
        <p:spPr>
          <a:xfrm>
            <a:off x="792480" y="3949077"/>
            <a:ext cx="4709160" cy="320040"/>
          </a:xfrm>
          <a:prstGeom prst="rect">
            <a:avLst/>
          </a:prstGeom>
          <a:noFill/>
          <a:ln/>
        </p:spPr>
        <p:txBody>
          <a:bodyPr wrap="square" lIns="0" tIns="0" rIns="0" bIns="0" rtlCol="0" anchor="ctr"/>
          <a:lstStyle/>
          <a:p>
            <a:r>
              <a:rPr lang="en-US" sz="1100" dirty="0">
                <a:solidFill>
                  <a:schemeClr val="accent2"/>
                </a:solidFill>
                <a:latin typeface="Arial" pitchFamily="34" charset="0"/>
                <a:ea typeface="Arial" pitchFamily="34" charset="-122"/>
                <a:cs typeface="Arial" pitchFamily="34" charset="-120"/>
              </a:rPr>
              <a:t>Nurse + patient perspective, translated and condensed from interview notes</a:t>
            </a:r>
          </a:p>
          <a:p>
            <a:endParaRPr lang="en-US" sz="1100" dirty="0"/>
          </a:p>
        </p:txBody>
      </p:sp>
      <p:sp>
        <p:nvSpPr>
          <p:cNvPr id="21" name="quote card 2">
            <a:extLst>
              <a:ext uri="{FF2B5EF4-FFF2-40B4-BE49-F238E27FC236}">
                <a16:creationId xmlns:a16="http://schemas.microsoft.com/office/drawing/2014/main" id="{A295121A-142E-BDF2-7AAF-8D8463B3B374}"/>
              </a:ext>
            </a:extLst>
          </p:cNvPr>
          <p:cNvSpPr/>
          <p:nvPr/>
        </p:nvSpPr>
        <p:spPr>
          <a:xfrm>
            <a:off x="6096000" y="2074557"/>
            <a:ext cx="5349240" cy="2331720"/>
          </a:xfrm>
          <a:prstGeom prst="roundRect">
            <a:avLst>
              <a:gd name="adj" fmla="val 4706"/>
            </a:avLst>
          </a:prstGeom>
          <a:solidFill>
            <a:schemeClr val="accent1"/>
          </a:solidFill>
          <a:ln/>
        </p:spPr>
        <p:txBody>
          <a:bodyPr/>
          <a:lstStyle/>
          <a:p>
            <a:endParaRPr lang="zh-CN" altLang="en-US"/>
          </a:p>
        </p:txBody>
      </p:sp>
      <p:sp>
        <p:nvSpPr>
          <p:cNvPr id="22" name="Text 12">
            <a:extLst>
              <a:ext uri="{FF2B5EF4-FFF2-40B4-BE49-F238E27FC236}">
                <a16:creationId xmlns:a16="http://schemas.microsoft.com/office/drawing/2014/main" id="{FC921AD5-05B8-F16C-A0E5-50F29ED1D897}"/>
              </a:ext>
            </a:extLst>
          </p:cNvPr>
          <p:cNvSpPr txBox="1"/>
          <p:nvPr/>
        </p:nvSpPr>
        <p:spPr>
          <a:xfrm>
            <a:off x="6416040" y="2239149"/>
            <a:ext cx="4572000" cy="320040"/>
          </a:xfrm>
          <a:prstGeom prst="rect">
            <a:avLst/>
          </a:prstGeom>
          <a:noFill/>
          <a:ln/>
        </p:spPr>
        <p:txBody>
          <a:bodyPr wrap="square" lIns="0" tIns="0" rIns="0" bIns="0" rtlCol="0" anchor="ctr"/>
          <a:lstStyle/>
          <a:p>
            <a:pPr marL="0" indent="0">
              <a:buNone/>
            </a:pPr>
            <a:r>
              <a:rPr lang="en-US" sz="1200" b="1" kern="0" spc="100" dirty="0">
                <a:solidFill>
                  <a:schemeClr val="accent3"/>
                </a:solidFill>
                <a:latin typeface="Arial" pitchFamily="34" charset="0"/>
                <a:ea typeface="Arial" pitchFamily="34" charset="-122"/>
                <a:cs typeface="Arial" pitchFamily="34" charset="-120"/>
              </a:rPr>
              <a:t>AFTER THE VISIT</a:t>
            </a:r>
            <a:endParaRPr lang="en-US" sz="1200" dirty="0"/>
          </a:p>
        </p:txBody>
      </p:sp>
      <p:sp>
        <p:nvSpPr>
          <p:cNvPr id="23" name="Text 13">
            <a:extLst>
              <a:ext uri="{FF2B5EF4-FFF2-40B4-BE49-F238E27FC236}">
                <a16:creationId xmlns:a16="http://schemas.microsoft.com/office/drawing/2014/main" id="{1FEAECB4-AE4D-9A42-E176-19FC0DF1A3B5}"/>
              </a:ext>
            </a:extLst>
          </p:cNvPr>
          <p:cNvSpPr txBox="1"/>
          <p:nvPr/>
        </p:nvSpPr>
        <p:spPr>
          <a:xfrm>
            <a:off x="6416040" y="2604909"/>
            <a:ext cx="4709160" cy="1234440"/>
          </a:xfrm>
          <a:prstGeom prst="rect">
            <a:avLst/>
          </a:prstGeom>
          <a:noFill/>
          <a:ln/>
        </p:spPr>
        <p:txBody>
          <a:bodyPr wrap="square" lIns="0" tIns="0" rIns="0" bIns="0" rtlCol="0" anchor="t"/>
          <a:lstStyle/>
          <a:p>
            <a:r>
              <a:rPr lang="en-US" sz="1600" i="1" dirty="0">
                <a:solidFill>
                  <a:schemeClr val="bg1"/>
                </a:solidFill>
                <a:latin typeface="Arial" pitchFamily="34" charset="0"/>
                <a:ea typeface="Arial" pitchFamily="34" charset="-122"/>
                <a:cs typeface="Arial" pitchFamily="34" charset="-120"/>
              </a:rPr>
              <a:t>“I had the prescription, but I still wanted to know why this medication was chosen, why I needed it for this long, what risks I should watch for, and what the test was for.”</a:t>
            </a:r>
          </a:p>
          <a:p>
            <a:endParaRPr lang="en-US" sz="1600" dirty="0">
              <a:solidFill>
                <a:schemeClr val="bg1"/>
              </a:solidFill>
              <a:latin typeface="Arial" pitchFamily="34" charset="0"/>
              <a:ea typeface="Arial" pitchFamily="34" charset="-122"/>
              <a:cs typeface="Arial" pitchFamily="34" charset="-120"/>
            </a:endParaRPr>
          </a:p>
          <a:p>
            <a:pPr marL="0" indent="0">
              <a:buNone/>
            </a:pPr>
            <a:endParaRPr lang="en-US" sz="1600" dirty="0"/>
          </a:p>
        </p:txBody>
      </p:sp>
      <p:sp>
        <p:nvSpPr>
          <p:cNvPr id="24" name="Text 14">
            <a:extLst>
              <a:ext uri="{FF2B5EF4-FFF2-40B4-BE49-F238E27FC236}">
                <a16:creationId xmlns:a16="http://schemas.microsoft.com/office/drawing/2014/main" id="{413CCBC3-5C9B-323F-F8D0-F7231C374930}"/>
              </a:ext>
            </a:extLst>
          </p:cNvPr>
          <p:cNvSpPr txBox="1"/>
          <p:nvPr/>
        </p:nvSpPr>
        <p:spPr>
          <a:xfrm>
            <a:off x="6416040" y="3949077"/>
            <a:ext cx="4709160" cy="320040"/>
          </a:xfrm>
          <a:prstGeom prst="rect">
            <a:avLst/>
          </a:prstGeom>
          <a:noFill/>
          <a:ln/>
        </p:spPr>
        <p:txBody>
          <a:bodyPr wrap="square" lIns="0" tIns="0" rIns="0" bIns="0" rtlCol="0" anchor="ctr"/>
          <a:lstStyle/>
          <a:p>
            <a:pPr marL="0" indent="0">
              <a:buNone/>
            </a:pPr>
            <a:r>
              <a:rPr lang="en-US" sz="1100" dirty="0">
                <a:solidFill>
                  <a:schemeClr val="accent2"/>
                </a:solidFill>
                <a:latin typeface="Arial" pitchFamily="34" charset="0"/>
                <a:ea typeface="Arial" pitchFamily="34" charset="-122"/>
                <a:cs typeface="Arial" pitchFamily="34" charset="-120"/>
              </a:rPr>
              <a:t>Patient with a chronic condition · translated</a:t>
            </a:r>
            <a:endParaRPr lang="en-US" sz="1100" dirty="0"/>
          </a:p>
        </p:txBody>
      </p:sp>
      <p:sp>
        <p:nvSpPr>
          <p:cNvPr id="26" name="Text 15">
            <a:extLst>
              <a:ext uri="{FF2B5EF4-FFF2-40B4-BE49-F238E27FC236}">
                <a16:creationId xmlns:a16="http://schemas.microsoft.com/office/drawing/2014/main" id="{5F730DD6-0209-8A50-20E5-733085933303}"/>
              </a:ext>
            </a:extLst>
          </p:cNvPr>
          <p:cNvSpPr txBox="1"/>
          <p:nvPr/>
        </p:nvSpPr>
        <p:spPr>
          <a:xfrm>
            <a:off x="472440" y="4634877"/>
            <a:ext cx="11064240" cy="640080"/>
          </a:xfrm>
          <a:prstGeom prst="rect">
            <a:avLst/>
          </a:prstGeom>
          <a:noFill/>
          <a:ln/>
        </p:spPr>
        <p:txBody>
          <a:bodyPr wrap="square" lIns="0" tIns="0" rIns="0" bIns="0" rtlCol="0" anchor="t"/>
          <a:lstStyle/>
          <a:p>
            <a:pPr marL="0" indent="0">
              <a:buNone/>
            </a:pPr>
            <a:r>
              <a:rPr lang="en-US" sz="1700" dirty="0">
                <a:latin typeface="Arial" pitchFamily="34" charset="0"/>
                <a:ea typeface="Arial" pitchFamily="34" charset="-122"/>
                <a:cs typeface="Arial" pitchFamily="34" charset="-120"/>
              </a:rPr>
              <a:t>Before the visit, the full story is hard to pass on. After it, the plan is hard to understand. </a:t>
            </a:r>
            <a:r>
              <a:rPr lang="en-US" sz="1700" b="1" dirty="0">
                <a:solidFill>
                  <a:schemeClr val="accent3"/>
                </a:solidFill>
                <a:latin typeface="Arial" pitchFamily="34" charset="0"/>
                <a:ea typeface="Arial" pitchFamily="34" charset="-122"/>
                <a:cs typeface="Arial" pitchFamily="34" charset="-120"/>
              </a:rPr>
              <a:t>A few minutes leaves little room for either.</a:t>
            </a:r>
            <a:endParaRPr lang="en-US" sz="1700" dirty="0"/>
          </a:p>
        </p:txBody>
      </p:sp>
      <p:pic>
        <p:nvPicPr>
          <p:cNvPr id="27" name="图片 26">
            <a:extLst>
              <a:ext uri="{FF2B5EF4-FFF2-40B4-BE49-F238E27FC236}">
                <a16:creationId xmlns:a16="http://schemas.microsoft.com/office/drawing/2014/main" id="{5C394E6E-7E7A-A3ED-58D0-9D1E277028EF}"/>
              </a:ext>
            </a:extLst>
          </p:cNvPr>
          <p:cNvPicPr>
            <a:picLocks noChangeAspect="1"/>
          </p:cNvPicPr>
          <p:nvPr/>
        </p:nvPicPr>
        <p:blipFill>
          <a:blip r:embed="rId3"/>
          <a:stretch>
            <a:fillRect/>
          </a:stretch>
        </p:blipFill>
        <p:spPr>
          <a:xfrm>
            <a:off x="0" y="0"/>
            <a:ext cx="3184071" cy="1061357"/>
          </a:xfrm>
          <a:prstGeom prst="rect">
            <a:avLst/>
          </a:prstGeom>
        </p:spPr>
      </p:pic>
      <p:pic>
        <p:nvPicPr>
          <p:cNvPr id="32" name="图片 31">
            <a:extLst>
              <a:ext uri="{FF2B5EF4-FFF2-40B4-BE49-F238E27FC236}">
                <a16:creationId xmlns:a16="http://schemas.microsoft.com/office/drawing/2014/main" id="{3CB79E2E-3DA9-D5C5-0FB7-560470735ED1}"/>
              </a:ext>
            </a:extLst>
          </p:cNvPr>
          <p:cNvPicPr>
            <a:picLocks noChangeAspect="1"/>
          </p:cNvPicPr>
          <p:nvPr/>
        </p:nvPicPr>
        <p:blipFill>
          <a:blip r:embed="rId4"/>
          <a:stretch>
            <a:fillRect/>
          </a:stretch>
        </p:blipFill>
        <p:spPr>
          <a:xfrm>
            <a:off x="112499" y="5686916"/>
            <a:ext cx="2222500" cy="1130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39496" y="928116"/>
            <a:ext cx="11064240" cy="822960"/>
          </a:xfrm>
          <a:prstGeom prst="rect">
            <a:avLst/>
          </a:prstGeom>
          <a:noFill/>
          <a:ln/>
        </p:spPr>
        <p:txBody>
          <a:bodyPr wrap="square" lIns="0" tIns="0" rIns="0" bIns="0" rtlCol="0" anchor="t"/>
          <a:lstStyle/>
          <a:p>
            <a:pPr marL="0" indent="0" algn="l">
              <a:buNone/>
            </a:pPr>
            <a:r>
              <a:rPr lang="en-US" sz="3000" b="1" dirty="0">
                <a:solidFill>
                  <a:schemeClr val="tx2"/>
                </a:solidFill>
              </a:rPr>
              <a:t>Two jobs, one record: prepare the story, follow the plan</a:t>
            </a:r>
            <a:endParaRPr lang="en-US" sz="3000" dirty="0"/>
          </a:p>
        </p:txBody>
      </p:sp>
      <p:sp>
        <p:nvSpPr>
          <p:cNvPr id="3" name="stage 1"/>
          <p:cNvSpPr/>
          <p:nvPr/>
        </p:nvSpPr>
        <p:spPr>
          <a:xfrm>
            <a:off x="548640" y="1554480"/>
            <a:ext cx="2926080" cy="3657600"/>
          </a:xfrm>
          <a:prstGeom prst="roundRect">
            <a:avLst>
              <a:gd name="adj" fmla="val 3750"/>
            </a:avLst>
          </a:prstGeom>
          <a:solidFill>
            <a:schemeClr val="tx2"/>
          </a:solidFill>
          <a:ln/>
        </p:spPr>
        <p:txBody>
          <a:bodyPr/>
          <a:lstStyle/>
          <a:p>
            <a:endParaRPr lang="zh-CN" altLang="en-US"/>
          </a:p>
        </p:txBody>
      </p:sp>
      <p:sp>
        <p:nvSpPr>
          <p:cNvPr id="4" name="stage 1 ring"/>
          <p:cNvSpPr/>
          <p:nvPr/>
        </p:nvSpPr>
        <p:spPr>
          <a:xfrm>
            <a:off x="768096" y="1728216"/>
            <a:ext cx="749808" cy="749808"/>
          </a:xfrm>
          <a:prstGeom prst="ellipse">
            <a:avLst/>
          </a:prstGeom>
          <a:solidFill>
            <a:schemeClr val="bg1"/>
          </a:solidFill>
          <a:ln/>
        </p:spPr>
        <p:txBody>
          <a:bodyPr/>
          <a:lstStyle/>
          <a:p>
            <a:endParaRPr lang="zh-CN" altLang="en-US"/>
          </a:p>
        </p:txBody>
      </p:sp>
      <p:sp>
        <p:nvSpPr>
          <p:cNvPr id="5" name="stage 1 circle"/>
          <p:cNvSpPr/>
          <p:nvPr/>
        </p:nvSpPr>
        <p:spPr>
          <a:xfrm>
            <a:off x="822960" y="1783080"/>
            <a:ext cx="640080" cy="640080"/>
          </a:xfrm>
          <a:prstGeom prst="ellipse">
            <a:avLst/>
          </a:prstGeom>
          <a:solidFill>
            <a:schemeClr val="accent3"/>
          </a:solidFill>
          <a:ln/>
        </p:spPr>
        <p:txBody>
          <a:bodyPr/>
          <a:lstStyle/>
          <a:p>
            <a:endParaRPr lang="zh-CN" altLang="en-US"/>
          </a:p>
        </p:txBody>
      </p:sp>
      <p:pic>
        <p:nvPicPr>
          <p:cNvPr id="6" name="stage 1 glyph" descr="preencoded.png"/>
          <p:cNvPicPr>
            <a:picLocks noChangeAspect="1"/>
          </p:cNvPicPr>
          <p:nvPr/>
        </p:nvPicPr>
        <p:blipFill>
          <a:blip r:embed="rId3"/>
          <a:stretch>
            <a:fillRect/>
          </a:stretch>
        </p:blipFill>
        <p:spPr>
          <a:xfrm>
            <a:off x="989381" y="1949501"/>
            <a:ext cx="307238" cy="307238"/>
          </a:xfrm>
          <a:prstGeom prst="rect">
            <a:avLst/>
          </a:prstGeom>
        </p:spPr>
      </p:pic>
      <p:sp>
        <p:nvSpPr>
          <p:cNvPr id="7" name="Text 4"/>
          <p:cNvSpPr txBox="1"/>
          <p:nvPr/>
        </p:nvSpPr>
        <p:spPr>
          <a:xfrm>
            <a:off x="822960" y="2560320"/>
            <a:ext cx="246888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BEFORE THE DOCTOR</a:t>
            </a:r>
            <a:endParaRPr lang="en-US" sz="1100" dirty="0"/>
          </a:p>
        </p:txBody>
      </p:sp>
      <p:sp>
        <p:nvSpPr>
          <p:cNvPr id="8" name="Text 5"/>
          <p:cNvSpPr txBox="1"/>
          <p:nvPr/>
        </p:nvSpPr>
        <p:spPr>
          <a:xfrm>
            <a:off x="822960" y="2852928"/>
            <a:ext cx="246888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Give the full story</a:t>
            </a:r>
            <a:endParaRPr lang="en-US" sz="1500" dirty="0"/>
          </a:p>
        </p:txBody>
      </p:sp>
      <p:sp>
        <p:nvSpPr>
          <p:cNvPr id="9" name="Text 6"/>
          <p:cNvSpPr txBox="1"/>
          <p:nvPr/>
        </p:nvSpPr>
        <p:spPr>
          <a:xfrm>
            <a:off x="822960" y="3310128"/>
            <a:ext cx="2468880" cy="86868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Body map, typing, voice or a photo. The agent asks one missing item at a time.</a:t>
            </a:r>
            <a:endParaRPr lang="en-US" sz="1300" dirty="0"/>
          </a:p>
        </p:txBody>
      </p:sp>
      <p:sp>
        <p:nvSpPr>
          <p:cNvPr id="10" name="Text 7"/>
          <p:cNvSpPr txBox="1"/>
          <p:nvPr/>
        </p:nvSpPr>
        <p:spPr>
          <a:xfrm>
            <a:off x="822960" y="4206240"/>
            <a:ext cx="2468880" cy="914400"/>
          </a:xfrm>
          <a:prstGeom prst="rect">
            <a:avLst/>
          </a:prstGeom>
          <a:noFill/>
          <a:ln/>
        </p:spPr>
        <p:txBody>
          <a:bodyPr wrap="square" lIns="0" tIns="0" rIns="0" bIns="0" rtlCol="0" anchor="t"/>
          <a:lstStyle/>
          <a:p>
            <a:pPr marL="0" indent="0">
              <a:buNone/>
            </a:pPr>
            <a:r>
              <a:rPr lang="en-US" sz="1300" b="1" dirty="0">
                <a:solidFill>
                  <a:schemeClr val="bg1"/>
                </a:solidFill>
                <a:latin typeface="Arial" pitchFamily="34" charset="0"/>
                <a:ea typeface="Arial" pitchFamily="34" charset="-122"/>
                <a:cs typeface="Arial" pitchFamily="34" charset="-120"/>
              </a:rPr>
              <a:t>→ A page for the doctor, plus a rule-based urgency and department hint</a:t>
            </a:r>
            <a:endParaRPr lang="en-US" sz="1300" dirty="0"/>
          </a:p>
        </p:txBody>
      </p:sp>
      <p:sp>
        <p:nvSpPr>
          <p:cNvPr id="11" name="stage 2"/>
          <p:cNvSpPr/>
          <p:nvPr/>
        </p:nvSpPr>
        <p:spPr>
          <a:xfrm>
            <a:off x="3593592" y="1554480"/>
            <a:ext cx="1920240" cy="3657600"/>
          </a:xfrm>
          <a:prstGeom prst="roundRect">
            <a:avLst>
              <a:gd name="adj" fmla="val 5714"/>
            </a:avLst>
          </a:prstGeom>
          <a:solidFill>
            <a:schemeClr val="accent4"/>
          </a:solidFill>
          <a:ln/>
        </p:spPr>
        <p:txBody>
          <a:bodyPr/>
          <a:lstStyle/>
          <a:p>
            <a:endParaRPr lang="zh-CN" altLang="en-US"/>
          </a:p>
        </p:txBody>
      </p:sp>
      <p:sp>
        <p:nvSpPr>
          <p:cNvPr id="12" name="stage 2 ring"/>
          <p:cNvSpPr/>
          <p:nvPr/>
        </p:nvSpPr>
        <p:spPr>
          <a:xfrm>
            <a:off x="3813048" y="1728216"/>
            <a:ext cx="749808" cy="749808"/>
          </a:xfrm>
          <a:prstGeom prst="ellipse">
            <a:avLst/>
          </a:prstGeom>
          <a:solidFill>
            <a:schemeClr val="bg1"/>
          </a:solidFill>
          <a:ln/>
        </p:spPr>
        <p:txBody>
          <a:bodyPr/>
          <a:lstStyle/>
          <a:p>
            <a:endParaRPr lang="zh-CN" altLang="en-US"/>
          </a:p>
        </p:txBody>
      </p:sp>
      <p:sp>
        <p:nvSpPr>
          <p:cNvPr id="13" name="stage 2 circle"/>
          <p:cNvSpPr/>
          <p:nvPr/>
        </p:nvSpPr>
        <p:spPr>
          <a:xfrm>
            <a:off x="3867912" y="1783080"/>
            <a:ext cx="640080" cy="640080"/>
          </a:xfrm>
          <a:prstGeom prst="ellipse">
            <a:avLst/>
          </a:prstGeom>
          <a:solidFill>
            <a:schemeClr val="accent6"/>
          </a:solidFill>
          <a:ln/>
        </p:spPr>
        <p:txBody>
          <a:bodyPr/>
          <a:lstStyle/>
          <a:p>
            <a:endParaRPr lang="zh-CN" altLang="en-US"/>
          </a:p>
        </p:txBody>
      </p:sp>
      <p:pic>
        <p:nvPicPr>
          <p:cNvPr id="14" name="stage 2 glyph" descr="preencoded.png"/>
          <p:cNvPicPr>
            <a:picLocks noChangeAspect="1"/>
          </p:cNvPicPr>
          <p:nvPr/>
        </p:nvPicPr>
        <p:blipFill>
          <a:blip r:embed="rId4"/>
          <a:stretch>
            <a:fillRect/>
          </a:stretch>
        </p:blipFill>
        <p:spPr>
          <a:xfrm>
            <a:off x="4034333" y="1949501"/>
            <a:ext cx="307238" cy="307238"/>
          </a:xfrm>
          <a:prstGeom prst="rect">
            <a:avLst/>
          </a:prstGeom>
        </p:spPr>
      </p:pic>
      <p:sp>
        <p:nvSpPr>
          <p:cNvPr id="15" name="Text 11"/>
          <p:cNvSpPr txBox="1"/>
          <p:nvPr/>
        </p:nvSpPr>
        <p:spPr>
          <a:xfrm>
            <a:off x="3867912" y="2560320"/>
            <a:ext cx="1463040" cy="274320"/>
          </a:xfrm>
          <a:prstGeom prst="rect">
            <a:avLst/>
          </a:prstGeom>
          <a:noFill/>
          <a:ln/>
        </p:spPr>
        <p:txBody>
          <a:bodyPr wrap="square" lIns="0" tIns="0" rIns="0" bIns="0" rtlCol="0" anchor="ctr"/>
          <a:lstStyle/>
          <a:p>
            <a:pPr marL="0" indent="0">
              <a:buNone/>
            </a:pPr>
            <a:r>
              <a:rPr lang="en-US" sz="1100" b="1" kern="0" spc="100" dirty="0">
                <a:solidFill>
                  <a:schemeClr val="accent5"/>
                </a:solidFill>
                <a:latin typeface="Arial" pitchFamily="34" charset="0"/>
                <a:ea typeface="Arial" pitchFamily="34" charset="-122"/>
                <a:cs typeface="Arial" pitchFamily="34" charset="-120"/>
              </a:rPr>
              <a:t>THE VISIT</a:t>
            </a:r>
            <a:endParaRPr lang="en-US" sz="1100" dirty="0"/>
          </a:p>
        </p:txBody>
      </p:sp>
      <p:sp>
        <p:nvSpPr>
          <p:cNvPr id="16" name="Text 12"/>
          <p:cNvSpPr txBox="1"/>
          <p:nvPr/>
        </p:nvSpPr>
        <p:spPr>
          <a:xfrm>
            <a:off x="3867912" y="2852928"/>
            <a:ext cx="1463040" cy="411480"/>
          </a:xfrm>
          <a:prstGeom prst="rect">
            <a:avLst/>
          </a:prstGeom>
          <a:noFill/>
          <a:ln/>
        </p:spPr>
        <p:txBody>
          <a:bodyPr wrap="square" lIns="0" tIns="0" rIns="0" bIns="0" rtlCol="0" anchor="ctr"/>
          <a:lstStyle/>
          <a:p>
            <a:pPr marL="0" indent="0">
              <a:buNone/>
            </a:pPr>
            <a:r>
              <a:rPr lang="en-US" sz="1500" b="1" dirty="0">
                <a:solidFill>
                  <a:schemeClr val="tx2"/>
                </a:solidFill>
                <a:latin typeface="Arial" pitchFamily="34" charset="0"/>
                <a:ea typeface="Arial" pitchFamily="34" charset="-122"/>
                <a:cs typeface="Arial" pitchFamily="34" charset="-120"/>
              </a:rPr>
              <a:t>No AI in the room</a:t>
            </a:r>
            <a:endParaRPr lang="en-US" sz="1500" dirty="0"/>
          </a:p>
        </p:txBody>
      </p:sp>
      <p:sp>
        <p:nvSpPr>
          <p:cNvPr id="17" name="Text 13"/>
          <p:cNvSpPr txBox="1"/>
          <p:nvPr/>
        </p:nvSpPr>
        <p:spPr>
          <a:xfrm>
            <a:off x="3867912" y="3310128"/>
            <a:ext cx="1463040" cy="86868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The patient shows the page. The doctor decides.</a:t>
            </a:r>
            <a:endParaRPr lang="en-US" sz="1300" dirty="0"/>
          </a:p>
        </p:txBody>
      </p:sp>
      <p:sp>
        <p:nvSpPr>
          <p:cNvPr id="18" name="stage 3"/>
          <p:cNvSpPr/>
          <p:nvPr/>
        </p:nvSpPr>
        <p:spPr>
          <a:xfrm>
            <a:off x="5632704" y="1554480"/>
            <a:ext cx="3108960" cy="3657600"/>
          </a:xfrm>
          <a:prstGeom prst="roundRect">
            <a:avLst>
              <a:gd name="adj" fmla="val 3529"/>
            </a:avLst>
          </a:prstGeom>
          <a:solidFill>
            <a:schemeClr val="tx2"/>
          </a:solidFill>
          <a:ln/>
        </p:spPr>
        <p:txBody>
          <a:bodyPr/>
          <a:lstStyle/>
          <a:p>
            <a:endParaRPr lang="zh-CN" altLang="en-US"/>
          </a:p>
        </p:txBody>
      </p:sp>
      <p:sp>
        <p:nvSpPr>
          <p:cNvPr id="19" name="stage 3 ring"/>
          <p:cNvSpPr/>
          <p:nvPr/>
        </p:nvSpPr>
        <p:spPr>
          <a:xfrm>
            <a:off x="5852160" y="1728216"/>
            <a:ext cx="749808" cy="749808"/>
          </a:xfrm>
          <a:prstGeom prst="ellipse">
            <a:avLst/>
          </a:prstGeom>
          <a:solidFill>
            <a:schemeClr val="bg1"/>
          </a:solidFill>
          <a:ln/>
        </p:spPr>
        <p:txBody>
          <a:bodyPr/>
          <a:lstStyle/>
          <a:p>
            <a:endParaRPr lang="zh-CN" altLang="en-US"/>
          </a:p>
        </p:txBody>
      </p:sp>
      <p:sp>
        <p:nvSpPr>
          <p:cNvPr id="20" name="stage 3 circle"/>
          <p:cNvSpPr/>
          <p:nvPr/>
        </p:nvSpPr>
        <p:spPr>
          <a:xfrm>
            <a:off x="5907024" y="1783080"/>
            <a:ext cx="640080" cy="640080"/>
          </a:xfrm>
          <a:prstGeom prst="ellipse">
            <a:avLst/>
          </a:prstGeom>
          <a:solidFill>
            <a:schemeClr val="accent3"/>
          </a:solidFill>
          <a:ln/>
        </p:spPr>
        <p:txBody>
          <a:bodyPr/>
          <a:lstStyle/>
          <a:p>
            <a:endParaRPr lang="zh-CN" altLang="en-US"/>
          </a:p>
        </p:txBody>
      </p:sp>
      <p:pic>
        <p:nvPicPr>
          <p:cNvPr id="21" name="stage 3 glyph" descr="preencoded.png"/>
          <p:cNvPicPr>
            <a:picLocks noChangeAspect="1"/>
          </p:cNvPicPr>
          <p:nvPr/>
        </p:nvPicPr>
        <p:blipFill>
          <a:blip r:embed="rId5"/>
          <a:stretch>
            <a:fillRect/>
          </a:stretch>
        </p:blipFill>
        <p:spPr>
          <a:xfrm>
            <a:off x="6073445" y="1949501"/>
            <a:ext cx="307238" cy="307238"/>
          </a:xfrm>
          <a:prstGeom prst="rect">
            <a:avLst/>
          </a:prstGeom>
        </p:spPr>
      </p:pic>
      <p:sp>
        <p:nvSpPr>
          <p:cNvPr id="22" name="Text 17"/>
          <p:cNvSpPr txBox="1"/>
          <p:nvPr/>
        </p:nvSpPr>
        <p:spPr>
          <a:xfrm>
            <a:off x="5907024" y="2560320"/>
            <a:ext cx="2651760" cy="274320"/>
          </a:xfrm>
          <a:prstGeom prst="rect">
            <a:avLst/>
          </a:prstGeom>
          <a:noFill/>
          <a:ln/>
        </p:spPr>
        <p:txBody>
          <a:bodyPr wrap="square" lIns="0" tIns="0" rIns="0" bIns="0" rtlCol="0" anchor="ctr"/>
          <a:lstStyle/>
          <a:p>
            <a:pPr marL="0" indent="0">
              <a:buNone/>
            </a:pPr>
            <a:r>
              <a:rPr lang="en-US" sz="1100" b="1" kern="0" spc="100" dirty="0">
                <a:solidFill>
                  <a:schemeClr val="accent2"/>
                </a:solidFill>
                <a:latin typeface="Arial" pitchFamily="34" charset="0"/>
                <a:ea typeface="Arial" pitchFamily="34" charset="-122"/>
                <a:cs typeface="Arial" pitchFamily="34" charset="-120"/>
              </a:rPr>
              <a:t>AFTER THE DOCTOR</a:t>
            </a:r>
            <a:endParaRPr lang="en-US" sz="1100" dirty="0"/>
          </a:p>
        </p:txBody>
      </p:sp>
      <p:sp>
        <p:nvSpPr>
          <p:cNvPr id="23" name="Text 18"/>
          <p:cNvSpPr txBox="1"/>
          <p:nvPr/>
        </p:nvSpPr>
        <p:spPr>
          <a:xfrm>
            <a:off x="5907024" y="2852928"/>
            <a:ext cx="265176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itchFamily="34" charset="0"/>
                <a:ea typeface="Arial" pitchFamily="34" charset="-122"/>
                <a:cs typeface="Arial" pitchFamily="34" charset="-120"/>
              </a:rPr>
              <a:t>Make the plan usable</a:t>
            </a:r>
            <a:endParaRPr lang="en-US" sz="1500" dirty="0"/>
          </a:p>
        </p:txBody>
      </p:sp>
      <p:sp>
        <p:nvSpPr>
          <p:cNvPr id="24" name="Text 19"/>
          <p:cNvSpPr txBox="1"/>
          <p:nvPr/>
        </p:nvSpPr>
        <p:spPr>
          <a:xfrm>
            <a:off x="5907024" y="3310128"/>
            <a:ext cx="2651760" cy="868680"/>
          </a:xfrm>
          <a:prstGeom prst="rect">
            <a:avLst/>
          </a:prstGeom>
          <a:noFill/>
          <a:ln/>
        </p:spPr>
        <p:txBody>
          <a:bodyPr wrap="square" lIns="0" tIns="0" rIns="0" bIns="0" rtlCol="0" anchor="t"/>
          <a:lstStyle/>
          <a:p>
            <a:pPr marL="0" indent="0">
              <a:buNone/>
            </a:pPr>
            <a:r>
              <a:rPr lang="en-US" sz="1300" dirty="0">
                <a:solidFill>
                  <a:schemeClr val="accent4"/>
                </a:solidFill>
                <a:latin typeface="Arial" pitchFamily="34" charset="0"/>
                <a:ea typeface="Arial" pitchFamily="34" charset="-122"/>
                <a:cs typeface="Arial" pitchFamily="34" charset="-120"/>
              </a:rPr>
              <a:t>Record the visit or photograph the record or prescription.</a:t>
            </a:r>
            <a:endParaRPr lang="en-US" sz="1300" dirty="0"/>
          </a:p>
        </p:txBody>
      </p:sp>
      <p:sp>
        <p:nvSpPr>
          <p:cNvPr id="25" name="Text 20"/>
          <p:cNvSpPr txBox="1"/>
          <p:nvPr/>
        </p:nvSpPr>
        <p:spPr>
          <a:xfrm>
            <a:off x="5907024" y="4206240"/>
            <a:ext cx="2651760" cy="914400"/>
          </a:xfrm>
          <a:prstGeom prst="rect">
            <a:avLst/>
          </a:prstGeom>
          <a:noFill/>
          <a:ln/>
        </p:spPr>
        <p:txBody>
          <a:bodyPr wrap="square" lIns="0" tIns="0" rIns="0" bIns="0" rtlCol="0" anchor="t"/>
          <a:lstStyle/>
          <a:p>
            <a:pPr marL="0" indent="0">
              <a:buNone/>
            </a:pPr>
            <a:r>
              <a:rPr lang="en-US" sz="1300" b="1" dirty="0">
                <a:solidFill>
                  <a:schemeClr val="bg1"/>
                </a:solidFill>
                <a:latin typeface="Arial" pitchFamily="34" charset="0"/>
                <a:ea typeface="Arial" pitchFamily="34" charset="-122"/>
                <a:cs typeface="Arial" pitchFamily="34" charset="-120"/>
              </a:rPr>
              <a:t>→ A Clinical Plan: diagnosis, medicines, to-dos, cautions, follow-up. Tap any line to ask.</a:t>
            </a:r>
            <a:endParaRPr lang="en-US" sz="1300" dirty="0"/>
          </a:p>
        </p:txBody>
      </p:sp>
      <p:sp>
        <p:nvSpPr>
          <p:cNvPr id="26" name="stage 4"/>
          <p:cNvSpPr/>
          <p:nvPr/>
        </p:nvSpPr>
        <p:spPr>
          <a:xfrm>
            <a:off x="8860536" y="1554480"/>
            <a:ext cx="2743200" cy="3657600"/>
          </a:xfrm>
          <a:prstGeom prst="roundRect">
            <a:avLst>
              <a:gd name="adj" fmla="val 4000"/>
            </a:avLst>
          </a:prstGeom>
          <a:solidFill>
            <a:schemeClr val="bg1"/>
          </a:solidFill>
          <a:ln w="12700">
            <a:solidFill>
              <a:srgbClr val="D9EBE4"/>
            </a:solidFill>
            <a:prstDash val="solid"/>
          </a:ln>
        </p:spPr>
        <p:txBody>
          <a:bodyPr/>
          <a:lstStyle/>
          <a:p>
            <a:endParaRPr lang="zh-CN" altLang="en-US"/>
          </a:p>
        </p:txBody>
      </p:sp>
      <p:sp>
        <p:nvSpPr>
          <p:cNvPr id="27" name="stage 4 ring"/>
          <p:cNvSpPr/>
          <p:nvPr/>
        </p:nvSpPr>
        <p:spPr>
          <a:xfrm>
            <a:off x="9079992" y="1728216"/>
            <a:ext cx="749808" cy="749808"/>
          </a:xfrm>
          <a:prstGeom prst="ellipse">
            <a:avLst/>
          </a:prstGeom>
          <a:solidFill>
            <a:schemeClr val="bg1"/>
          </a:solidFill>
          <a:ln/>
        </p:spPr>
        <p:txBody>
          <a:bodyPr/>
          <a:lstStyle/>
          <a:p>
            <a:endParaRPr lang="zh-CN" altLang="en-US"/>
          </a:p>
        </p:txBody>
      </p:sp>
      <p:sp>
        <p:nvSpPr>
          <p:cNvPr id="28" name="stage 4 circle"/>
          <p:cNvSpPr/>
          <p:nvPr/>
        </p:nvSpPr>
        <p:spPr>
          <a:xfrm>
            <a:off x="9134856" y="1783080"/>
            <a:ext cx="640080" cy="640080"/>
          </a:xfrm>
          <a:prstGeom prst="ellipse">
            <a:avLst/>
          </a:prstGeom>
          <a:solidFill>
            <a:schemeClr val="accent1"/>
          </a:solidFill>
          <a:ln/>
        </p:spPr>
        <p:txBody>
          <a:bodyPr/>
          <a:lstStyle/>
          <a:p>
            <a:endParaRPr lang="zh-CN" altLang="en-US"/>
          </a:p>
        </p:txBody>
      </p:sp>
      <p:pic>
        <p:nvPicPr>
          <p:cNvPr id="29" name="stage 4 glyph" descr="preencoded.png"/>
          <p:cNvPicPr>
            <a:picLocks noChangeAspect="1"/>
          </p:cNvPicPr>
          <p:nvPr/>
        </p:nvPicPr>
        <p:blipFill>
          <a:blip r:embed="rId6"/>
          <a:stretch>
            <a:fillRect/>
          </a:stretch>
        </p:blipFill>
        <p:spPr>
          <a:xfrm>
            <a:off x="9301277" y="1949501"/>
            <a:ext cx="307238" cy="307238"/>
          </a:xfrm>
          <a:prstGeom prst="rect">
            <a:avLst/>
          </a:prstGeom>
        </p:spPr>
      </p:pic>
      <p:sp>
        <p:nvSpPr>
          <p:cNvPr id="30" name="Text 24"/>
          <p:cNvSpPr txBox="1"/>
          <p:nvPr/>
        </p:nvSpPr>
        <p:spPr>
          <a:xfrm>
            <a:off x="9134856" y="2560320"/>
            <a:ext cx="2286000" cy="274320"/>
          </a:xfrm>
          <a:prstGeom prst="rect">
            <a:avLst/>
          </a:prstGeom>
          <a:noFill/>
          <a:ln/>
        </p:spPr>
        <p:txBody>
          <a:bodyPr wrap="square" lIns="0" tIns="0" rIns="0" bIns="0" rtlCol="0" anchor="ctr"/>
          <a:lstStyle/>
          <a:p>
            <a:pPr marL="0" indent="0">
              <a:buNone/>
            </a:pPr>
            <a:r>
              <a:rPr lang="en-US" sz="1100" b="1" kern="0" spc="100" dirty="0">
                <a:solidFill>
                  <a:schemeClr val="accent5"/>
                </a:solidFill>
                <a:latin typeface="Arial" pitchFamily="34" charset="0"/>
                <a:ea typeface="Arial" pitchFamily="34" charset="-122"/>
                <a:cs typeface="Arial" pitchFamily="34" charset="-120"/>
              </a:rPr>
              <a:t>AT HOME</a:t>
            </a:r>
            <a:endParaRPr lang="en-US" sz="1100" dirty="0"/>
          </a:p>
        </p:txBody>
      </p:sp>
      <p:sp>
        <p:nvSpPr>
          <p:cNvPr id="31" name="Text 25"/>
          <p:cNvSpPr txBox="1"/>
          <p:nvPr/>
        </p:nvSpPr>
        <p:spPr>
          <a:xfrm>
            <a:off x="9134856" y="2852928"/>
            <a:ext cx="2286000" cy="411480"/>
          </a:xfrm>
          <a:prstGeom prst="rect">
            <a:avLst/>
          </a:prstGeom>
          <a:noFill/>
          <a:ln/>
        </p:spPr>
        <p:txBody>
          <a:bodyPr wrap="square" lIns="0" tIns="0" rIns="0" bIns="0" rtlCol="0" anchor="ctr"/>
          <a:lstStyle/>
          <a:p>
            <a:pPr marL="0" indent="0">
              <a:buNone/>
            </a:pPr>
            <a:r>
              <a:rPr lang="en-US" sz="1500" b="1" dirty="0">
                <a:solidFill>
                  <a:schemeClr val="tx2"/>
                </a:solidFill>
                <a:latin typeface="Arial" pitchFamily="34" charset="0"/>
                <a:ea typeface="Arial" pitchFamily="34" charset="-122"/>
                <a:cs typeface="Arial" pitchFamily="34" charset="-120"/>
              </a:rPr>
              <a:t>Follow it and check in</a:t>
            </a:r>
            <a:endParaRPr lang="en-US" sz="1500" dirty="0"/>
          </a:p>
        </p:txBody>
      </p:sp>
      <p:sp>
        <p:nvSpPr>
          <p:cNvPr id="32" name="Text 26"/>
          <p:cNvSpPr txBox="1"/>
          <p:nvPr/>
        </p:nvSpPr>
        <p:spPr>
          <a:xfrm>
            <a:off x="9134856" y="3310128"/>
            <a:ext cx="2286000" cy="86868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Reminders from the lines you chose. “Better / same / worse” check-ins.</a:t>
            </a:r>
            <a:endParaRPr lang="en-US" sz="1300" dirty="0"/>
          </a:p>
        </p:txBody>
      </p:sp>
      <p:sp>
        <p:nvSpPr>
          <p:cNvPr id="33" name="Text 27"/>
          <p:cNvSpPr txBox="1"/>
          <p:nvPr/>
        </p:nvSpPr>
        <p:spPr>
          <a:xfrm>
            <a:off x="9134856" y="4206240"/>
            <a:ext cx="2286000" cy="914400"/>
          </a:xfrm>
          <a:prstGeom prst="rect">
            <a:avLst/>
          </a:prstGeom>
          <a:noFill/>
          <a:ln/>
        </p:spPr>
        <p:txBody>
          <a:bodyPr wrap="square" lIns="0" tIns="0" rIns="0" bIns="0" rtlCol="0" anchor="t"/>
          <a:lstStyle/>
          <a:p>
            <a:pPr marL="0" indent="0">
              <a:buNone/>
            </a:pPr>
            <a:r>
              <a:rPr lang="en-US" sz="1300" b="1" dirty="0">
                <a:solidFill>
                  <a:schemeClr val="accent1"/>
                </a:solidFill>
                <a:latin typeface="Arial" pitchFamily="34" charset="0"/>
                <a:ea typeface="Arial" pitchFamily="34" charset="-122"/>
                <a:cs typeface="Arial" pitchFamily="34" charset="-120"/>
              </a:rPr>
              <a:t>→ Ask questions about your own record</a:t>
            </a:r>
            <a:endParaRPr lang="en-US" sz="1300" dirty="0"/>
          </a:p>
        </p:txBody>
      </p:sp>
      <p:sp>
        <p:nvSpPr>
          <p:cNvPr id="34" name="memory band"/>
          <p:cNvSpPr/>
          <p:nvPr/>
        </p:nvSpPr>
        <p:spPr>
          <a:xfrm>
            <a:off x="548640" y="5440680"/>
            <a:ext cx="11064240" cy="685800"/>
          </a:xfrm>
          <a:prstGeom prst="roundRect">
            <a:avLst>
              <a:gd name="adj" fmla="val 16000"/>
            </a:avLst>
          </a:prstGeom>
          <a:solidFill>
            <a:schemeClr val="accent4"/>
          </a:solidFill>
          <a:ln/>
        </p:spPr>
        <p:txBody>
          <a:bodyPr/>
          <a:lstStyle/>
          <a:p>
            <a:endParaRPr lang="zh-CN" altLang="en-US"/>
          </a:p>
        </p:txBody>
      </p:sp>
      <p:sp>
        <p:nvSpPr>
          <p:cNvPr id="35" name="memory ring"/>
          <p:cNvSpPr/>
          <p:nvPr/>
        </p:nvSpPr>
        <p:spPr>
          <a:xfrm>
            <a:off x="676656" y="5504688"/>
            <a:ext cx="566928" cy="566928"/>
          </a:xfrm>
          <a:prstGeom prst="ellipse">
            <a:avLst/>
          </a:prstGeom>
          <a:solidFill>
            <a:schemeClr val="bg1"/>
          </a:solidFill>
          <a:ln/>
        </p:spPr>
        <p:txBody>
          <a:bodyPr/>
          <a:lstStyle/>
          <a:p>
            <a:endParaRPr lang="zh-CN" altLang="en-US"/>
          </a:p>
        </p:txBody>
      </p:sp>
      <p:sp>
        <p:nvSpPr>
          <p:cNvPr id="36" name="memory circle"/>
          <p:cNvSpPr/>
          <p:nvPr/>
        </p:nvSpPr>
        <p:spPr>
          <a:xfrm>
            <a:off x="731520" y="5559552"/>
            <a:ext cx="457200" cy="457200"/>
          </a:xfrm>
          <a:prstGeom prst="ellipse">
            <a:avLst/>
          </a:prstGeom>
          <a:solidFill>
            <a:schemeClr val="accent1"/>
          </a:solidFill>
          <a:ln/>
        </p:spPr>
        <p:txBody>
          <a:bodyPr/>
          <a:lstStyle/>
          <a:p>
            <a:endParaRPr lang="zh-CN" altLang="en-US"/>
          </a:p>
        </p:txBody>
      </p:sp>
      <p:pic>
        <p:nvPicPr>
          <p:cNvPr id="37" name="memory glyph" descr="preencoded.png"/>
          <p:cNvPicPr>
            <a:picLocks noChangeAspect="1"/>
          </p:cNvPicPr>
          <p:nvPr/>
        </p:nvPicPr>
        <p:blipFill>
          <a:blip r:embed="rId7"/>
          <a:stretch>
            <a:fillRect/>
          </a:stretch>
        </p:blipFill>
        <p:spPr>
          <a:xfrm>
            <a:off x="850392" y="5678424"/>
            <a:ext cx="219456" cy="219456"/>
          </a:xfrm>
          <a:prstGeom prst="rect">
            <a:avLst/>
          </a:prstGeom>
        </p:spPr>
      </p:pic>
      <p:sp>
        <p:nvSpPr>
          <p:cNvPr id="38" name="Text 31"/>
          <p:cNvSpPr txBox="1"/>
          <p:nvPr/>
        </p:nvSpPr>
        <p:spPr>
          <a:xfrm>
            <a:off x="1371600" y="5440680"/>
            <a:ext cx="10058400" cy="685800"/>
          </a:xfrm>
          <a:prstGeom prst="rect">
            <a:avLst/>
          </a:prstGeom>
          <a:noFill/>
          <a:ln/>
        </p:spPr>
        <p:txBody>
          <a:bodyPr wrap="square" lIns="0" tIns="0" rIns="0" bIns="0" rtlCol="0" anchor="ctr"/>
          <a:lstStyle/>
          <a:p>
            <a:pPr marL="0" indent="0">
              <a:buNone/>
            </a:pPr>
            <a:r>
              <a:rPr lang="en-US" sz="1400" b="1" dirty="0">
                <a:solidFill>
                  <a:schemeClr val="tx2"/>
                </a:solidFill>
                <a:latin typeface="Arial" pitchFamily="34" charset="0"/>
                <a:ea typeface="Arial" pitchFamily="34" charset="-122"/>
                <a:cs typeface="Arial" pitchFamily="34" charset="-120"/>
              </a:rPr>
              <a:t>Every saved visit becomes memory. </a:t>
            </a:r>
            <a:r>
              <a:rPr lang="en-US" sz="1400" dirty="0">
                <a:solidFill>
                  <a:schemeClr val="tx1"/>
                </a:solidFill>
                <a:latin typeface="Arial" pitchFamily="34" charset="0"/>
                <a:ea typeface="Arial" pitchFamily="34" charset="-122"/>
                <a:cs typeface="Arial" pitchFamily="34" charset="-120"/>
              </a:rPr>
              <a:t>At the follow-up, Before the doctor starts from the last saved plan, medicines and profile.</a:t>
            </a:r>
            <a:endParaRPr lang="en-US" sz="1400" dirty="0"/>
          </a:p>
        </p:txBody>
      </p:sp>
      <p:sp>
        <p:nvSpPr>
          <p:cNvPr id="39" name="Slide Number Placeholder 0"/>
          <p:cNvSpPr>
            <a:spLocks noGrp="1"/>
          </p:cNvSpPr>
          <p:nvPr>
            <p:ph type="sldNum" sz="quarter" idx="4294967295"/>
          </p:nvPr>
        </p:nvSpPr>
        <p:spPr>
          <a:xfrm>
            <a:off x="11155680" y="653796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pic>
        <p:nvPicPr>
          <p:cNvPr id="44" name="图片 43">
            <a:extLst>
              <a:ext uri="{FF2B5EF4-FFF2-40B4-BE49-F238E27FC236}">
                <a16:creationId xmlns:a16="http://schemas.microsoft.com/office/drawing/2014/main" id="{27C6E2F7-3E84-D60D-2EAF-9218AF0F3246}"/>
              </a:ext>
            </a:extLst>
          </p:cNvPr>
          <p:cNvPicPr>
            <a:picLocks noChangeAspect="1"/>
          </p:cNvPicPr>
          <p:nvPr/>
        </p:nvPicPr>
        <p:blipFill>
          <a:blip r:embed="rId8"/>
          <a:stretch>
            <a:fillRect/>
          </a:stretch>
        </p:blipFill>
        <p:spPr>
          <a:xfrm>
            <a:off x="-23204" y="45720"/>
            <a:ext cx="12215204" cy="6844443"/>
          </a:xfrm>
          <a:prstGeom prst="rect">
            <a:avLst/>
          </a:prstGeom>
        </p:spPr>
      </p:pic>
      <p:pic>
        <p:nvPicPr>
          <p:cNvPr id="40" name="图片 39">
            <a:extLst>
              <a:ext uri="{FF2B5EF4-FFF2-40B4-BE49-F238E27FC236}">
                <a16:creationId xmlns:a16="http://schemas.microsoft.com/office/drawing/2014/main" id="{702E8F0D-E0E5-1326-9D96-6B66FA177EBC}"/>
              </a:ext>
            </a:extLst>
          </p:cNvPr>
          <p:cNvPicPr>
            <a:picLocks noChangeAspect="1"/>
          </p:cNvPicPr>
          <p:nvPr/>
        </p:nvPicPr>
        <p:blipFill>
          <a:blip r:embed="rId9"/>
          <a:stretch>
            <a:fillRect/>
          </a:stretch>
        </p:blipFill>
        <p:spPr>
          <a:xfrm>
            <a:off x="0" y="0"/>
            <a:ext cx="3184071" cy="106135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686614" y="940707"/>
            <a:ext cx="11064240" cy="822960"/>
          </a:xfrm>
          <a:prstGeom prst="rect">
            <a:avLst/>
          </a:prstGeom>
          <a:noFill/>
          <a:ln/>
        </p:spPr>
        <p:txBody>
          <a:bodyPr wrap="square" lIns="0" tIns="0" rIns="0" bIns="0" rtlCol="0" anchor="t"/>
          <a:lstStyle/>
          <a:p>
            <a:pPr marL="0" indent="0" algn="ctr">
              <a:buNone/>
            </a:pPr>
            <a:r>
              <a:rPr lang="en-US" sz="3000" b="1" dirty="0">
                <a:solidFill>
                  <a:schemeClr val="tx2"/>
                </a:solidFill>
              </a:rPr>
              <a:t>How It </a:t>
            </a:r>
            <a:r>
              <a:rPr lang="en-US" dirty="0"/>
              <a:t>W</a:t>
            </a:r>
            <a:r>
              <a:rPr lang="en-US" sz="3000" b="1" dirty="0">
                <a:solidFill>
                  <a:schemeClr val="tx2"/>
                </a:solidFill>
              </a:rPr>
              <a:t>orks: The </a:t>
            </a:r>
            <a:r>
              <a:rPr lang="en-US" dirty="0"/>
              <a:t>A</a:t>
            </a:r>
            <a:r>
              <a:rPr lang="en-US" sz="3000" b="1" dirty="0">
                <a:solidFill>
                  <a:schemeClr val="tx2"/>
                </a:solidFill>
              </a:rPr>
              <a:t>gentic </a:t>
            </a:r>
            <a:r>
              <a:rPr lang="en-US" dirty="0"/>
              <a:t>W</a:t>
            </a:r>
            <a:r>
              <a:rPr lang="en-US" sz="3000" b="1" dirty="0">
                <a:solidFill>
                  <a:schemeClr val="tx2"/>
                </a:solidFill>
              </a:rPr>
              <a:t>orkflow</a:t>
            </a:r>
            <a:endParaRPr lang="en-US" sz="3000" dirty="0"/>
          </a:p>
        </p:txBody>
      </p:sp>
      <p:pic>
        <p:nvPicPr>
          <p:cNvPr id="73" name="图片 72">
            <a:extLst>
              <a:ext uri="{FF2B5EF4-FFF2-40B4-BE49-F238E27FC236}">
                <a16:creationId xmlns:a16="http://schemas.microsoft.com/office/drawing/2014/main" id="{85D3F0D0-AA3A-457F-8467-141DF2DF39DB}"/>
              </a:ext>
            </a:extLst>
          </p:cNvPr>
          <p:cNvPicPr>
            <a:picLocks noChangeAspect="1"/>
          </p:cNvPicPr>
          <p:nvPr/>
        </p:nvPicPr>
        <p:blipFill>
          <a:blip r:embed="rId3"/>
          <a:srcRect l="4411" t="3892" r="3770" b="3884"/>
          <a:stretch>
            <a:fillRect/>
          </a:stretch>
        </p:blipFill>
        <p:spPr>
          <a:xfrm>
            <a:off x="518160" y="1582420"/>
            <a:ext cx="5577840" cy="4822759"/>
          </a:xfrm>
          <a:prstGeom prst="rect">
            <a:avLst/>
          </a:prstGeom>
        </p:spPr>
      </p:pic>
      <p:pic>
        <p:nvPicPr>
          <p:cNvPr id="75" name="图片 74">
            <a:extLst>
              <a:ext uri="{FF2B5EF4-FFF2-40B4-BE49-F238E27FC236}">
                <a16:creationId xmlns:a16="http://schemas.microsoft.com/office/drawing/2014/main" id="{BB02FAFB-96FA-0AC3-ED0D-0E7D24E21FD1}"/>
              </a:ext>
            </a:extLst>
          </p:cNvPr>
          <p:cNvPicPr>
            <a:picLocks noChangeAspect="1"/>
          </p:cNvPicPr>
          <p:nvPr/>
        </p:nvPicPr>
        <p:blipFill>
          <a:blip r:embed="rId4"/>
          <a:stretch>
            <a:fillRect/>
          </a:stretch>
        </p:blipFill>
        <p:spPr>
          <a:xfrm>
            <a:off x="186796" y="6011479"/>
            <a:ext cx="1422400" cy="787400"/>
          </a:xfrm>
          <a:prstGeom prst="rect">
            <a:avLst/>
          </a:prstGeom>
        </p:spPr>
      </p:pic>
      <p:sp>
        <p:nvSpPr>
          <p:cNvPr id="79" name="文本框 78">
            <a:extLst>
              <a:ext uri="{FF2B5EF4-FFF2-40B4-BE49-F238E27FC236}">
                <a16:creationId xmlns:a16="http://schemas.microsoft.com/office/drawing/2014/main" id="{75BBCF1C-ED67-8A65-F8D5-D53BFBDD9476}"/>
              </a:ext>
            </a:extLst>
          </p:cNvPr>
          <p:cNvSpPr txBox="1"/>
          <p:nvPr/>
        </p:nvSpPr>
        <p:spPr>
          <a:xfrm>
            <a:off x="6341468" y="2097679"/>
            <a:ext cx="5577840" cy="3416320"/>
          </a:xfrm>
          <a:prstGeom prst="rect">
            <a:avLst/>
          </a:prstGeom>
          <a:noFill/>
        </p:spPr>
        <p:txBody>
          <a:bodyPr wrap="square">
            <a:spAutoFit/>
          </a:bodyPr>
          <a:lstStyle/>
          <a:p>
            <a:r>
              <a:rPr lang="zh-CN" altLang="zh-CN" b="1" dirty="0"/>
              <a:t>Beyond the Core Visit</a:t>
            </a:r>
          </a:p>
          <a:p>
            <a:r>
              <a:rPr lang="zh-CN" altLang="zh-CN" sz="1600" i="1" dirty="0"/>
              <a:t>Tools that make each visit more informed, safer, and easier to follow.</a:t>
            </a:r>
            <a:endParaRPr lang="en-US" altLang="zh-CN" sz="1600" i="1" dirty="0"/>
          </a:p>
          <a:p>
            <a:endParaRPr lang="zh-CN" altLang="zh-CN" dirty="0"/>
          </a:p>
          <a:p>
            <a:r>
              <a:rPr lang="zh-CN" altLang="zh-CN" sz="1600" b="1" dirty="0"/>
              <a:t>Before the Visit</a:t>
            </a:r>
          </a:p>
          <a:p>
            <a:r>
              <a:rPr lang="zh-CN" altLang="zh-CN" sz="1600" dirty="0"/>
              <a:t>Body Map</a:t>
            </a:r>
            <a:r>
              <a:rPr lang="en-US" altLang="zh-CN" sz="1600" dirty="0"/>
              <a:t>, </a:t>
            </a:r>
            <a:r>
              <a:rPr lang="zh-CN" altLang="zh-CN" sz="1600" dirty="0"/>
              <a:t>Plain Language</a:t>
            </a:r>
            <a:r>
              <a:rPr lang="en-US" altLang="zh-CN" sz="1600" dirty="0"/>
              <a:t>, </a:t>
            </a:r>
            <a:r>
              <a:rPr lang="zh-CN" altLang="zh-CN" sz="1600" dirty="0"/>
              <a:t>Red Flags</a:t>
            </a:r>
            <a:br>
              <a:rPr lang="zh-CN" altLang="zh-CN" sz="1600" dirty="0"/>
            </a:br>
            <a:endParaRPr lang="en-US" altLang="zh-CN" sz="1600" dirty="0"/>
          </a:p>
          <a:p>
            <a:r>
              <a:rPr lang="zh-CN" altLang="zh-CN" sz="1600" b="1" dirty="0"/>
              <a:t>After the Visit</a:t>
            </a:r>
          </a:p>
          <a:p>
            <a:r>
              <a:rPr lang="zh-CN" altLang="zh-CN" sz="1600" dirty="0"/>
              <a:t>Follow-Up</a:t>
            </a:r>
            <a:r>
              <a:rPr lang="en-US" altLang="zh-CN" sz="1600" dirty="0"/>
              <a:t> Tracking, </a:t>
            </a:r>
            <a:r>
              <a:rPr lang="zh-CN" altLang="zh-CN" sz="1600" dirty="0"/>
              <a:t>Ask Anything</a:t>
            </a:r>
            <a:r>
              <a:rPr lang="en-US" altLang="zh-CN" sz="1600" dirty="0"/>
              <a:t>, </a:t>
            </a:r>
            <a:r>
              <a:rPr lang="zh-CN" altLang="zh-CN" sz="1600" dirty="0"/>
              <a:t>Visit Timeline</a:t>
            </a:r>
            <a:r>
              <a:rPr lang="en-US" altLang="zh-CN" sz="1600" dirty="0"/>
              <a:t>, </a:t>
            </a:r>
            <a:r>
              <a:rPr lang="zh-CN" altLang="zh-CN" sz="1600" dirty="0"/>
              <a:t>Long-Term Tracking</a:t>
            </a:r>
            <a:br>
              <a:rPr lang="zh-CN" altLang="zh-CN" sz="1600" dirty="0"/>
            </a:br>
            <a:endParaRPr lang="zh-CN" altLang="zh-CN" sz="1600" dirty="0"/>
          </a:p>
          <a:p>
            <a:r>
              <a:rPr lang="zh-CN" altLang="zh-CN" sz="1600" b="1" dirty="0"/>
              <a:t>Always With You</a:t>
            </a:r>
          </a:p>
          <a:p>
            <a:r>
              <a:rPr lang="zh-CN" altLang="zh-CN" sz="1600" dirty="0"/>
              <a:t>Emergency Card</a:t>
            </a:r>
            <a:r>
              <a:rPr lang="en-US" altLang="zh-CN" sz="1600" dirty="0"/>
              <a:t>, </a:t>
            </a:r>
            <a:r>
              <a:rPr lang="zh-CN" altLang="zh-CN" sz="1600" dirty="0"/>
              <a:t>Bilingual</a:t>
            </a:r>
            <a:r>
              <a:rPr lang="en-US" altLang="zh-CN" sz="1600" dirty="0"/>
              <a:t>, </a:t>
            </a:r>
            <a:r>
              <a:rPr lang="zh-CN" altLang="zh-CN" sz="1600" dirty="0"/>
              <a:t>Tutorial</a:t>
            </a:r>
            <a:r>
              <a:rPr lang="en-US" altLang="zh-CN" sz="1600" dirty="0"/>
              <a:t>, </a:t>
            </a:r>
            <a:r>
              <a:rPr lang="zh-CN" altLang="zh-CN" sz="1600" dirty="0"/>
              <a:t>Health Sync</a:t>
            </a:r>
          </a:p>
        </p:txBody>
      </p:sp>
      <p:pic>
        <p:nvPicPr>
          <p:cNvPr id="80" name="图片 79">
            <a:extLst>
              <a:ext uri="{FF2B5EF4-FFF2-40B4-BE49-F238E27FC236}">
                <a16:creationId xmlns:a16="http://schemas.microsoft.com/office/drawing/2014/main" id="{8FB45B16-134A-8B8E-01E5-7376FD3946A2}"/>
              </a:ext>
            </a:extLst>
          </p:cNvPr>
          <p:cNvPicPr>
            <a:picLocks noChangeAspect="1"/>
          </p:cNvPicPr>
          <p:nvPr/>
        </p:nvPicPr>
        <p:blipFill>
          <a:blip r:embed="rId5"/>
          <a:stretch>
            <a:fillRect/>
          </a:stretch>
        </p:blipFill>
        <p:spPr>
          <a:xfrm>
            <a:off x="0" y="0"/>
            <a:ext cx="3184071" cy="10613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3880" y="3017520"/>
            <a:ext cx="11064240" cy="822960"/>
          </a:xfrm>
          <a:prstGeom prst="rect">
            <a:avLst/>
          </a:prstGeom>
          <a:noFill/>
          <a:ln/>
        </p:spPr>
        <p:txBody>
          <a:bodyPr wrap="square" lIns="0" tIns="0" rIns="0" bIns="0" rtlCol="0" anchor="t"/>
          <a:lstStyle/>
          <a:p>
            <a:pPr marL="0" indent="0" algn="ctr">
              <a:buNone/>
            </a:pPr>
            <a:r>
              <a:rPr lang="en-US" sz="4000" b="1" dirty="0">
                <a:solidFill>
                  <a:schemeClr val="bg1"/>
                </a:solidFill>
              </a:rPr>
              <a:t>Live </a:t>
            </a:r>
            <a:r>
              <a:rPr lang="en-US" sz="4000" dirty="0"/>
              <a:t>D</a:t>
            </a:r>
            <a:r>
              <a:rPr lang="en-US" sz="4000" b="1" dirty="0">
                <a:solidFill>
                  <a:schemeClr val="bg1"/>
                </a:solidFill>
              </a:rPr>
              <a:t>emo Time</a:t>
            </a:r>
            <a:endParaRPr lang="en-US" sz="4000" dirty="0"/>
          </a:p>
        </p:txBody>
      </p:sp>
      <p:pic>
        <p:nvPicPr>
          <p:cNvPr id="21" name="图片 20">
            <a:extLst>
              <a:ext uri="{FF2B5EF4-FFF2-40B4-BE49-F238E27FC236}">
                <a16:creationId xmlns:a16="http://schemas.microsoft.com/office/drawing/2014/main" id="{A928F620-C73B-90BA-4E17-71AACF8F5D12}"/>
              </a:ext>
            </a:extLst>
          </p:cNvPr>
          <p:cNvPicPr>
            <a:picLocks noChangeAspect="1"/>
          </p:cNvPicPr>
          <p:nvPr/>
        </p:nvPicPr>
        <p:blipFill>
          <a:blip r:embed="rId3"/>
          <a:stretch>
            <a:fillRect/>
          </a:stretch>
        </p:blipFill>
        <p:spPr>
          <a:xfrm>
            <a:off x="0" y="0"/>
            <a:ext cx="3184071" cy="106135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1064240" cy="822960"/>
          </a:xfrm>
          <a:prstGeom prst="rect">
            <a:avLst/>
          </a:prstGeom>
          <a:noFill/>
          <a:ln/>
        </p:spPr>
        <p:txBody>
          <a:bodyPr wrap="square" lIns="0" tIns="0" rIns="0" bIns="0" rtlCol="0" anchor="t"/>
          <a:lstStyle/>
          <a:p>
            <a:pPr marL="0" indent="0" algn="l">
              <a:buNone/>
            </a:pPr>
            <a:r>
              <a:rPr lang="en-US" sz="3000" b="1" dirty="0">
                <a:solidFill>
                  <a:schemeClr val="tx2"/>
                </a:solidFill>
              </a:rPr>
              <a:t>Competitive landscape</a:t>
            </a:r>
            <a:endParaRPr lang="en-US" sz="3000" dirty="0"/>
          </a:p>
        </p:txBody>
      </p:sp>
      <p:sp>
        <p:nvSpPr>
          <p:cNvPr id="3" name="Symptom checkers card"/>
          <p:cNvSpPr/>
          <p:nvPr/>
        </p:nvSpPr>
        <p:spPr>
          <a:xfrm>
            <a:off x="548640" y="1371600"/>
            <a:ext cx="2606040" cy="3017520"/>
          </a:xfrm>
          <a:prstGeom prst="roundRect">
            <a:avLst>
              <a:gd name="adj" fmla="val 4211"/>
            </a:avLst>
          </a:prstGeom>
          <a:solidFill>
            <a:schemeClr val="bg1"/>
          </a:solidFill>
          <a:ln w="12700">
            <a:solidFill>
              <a:srgbClr val="D9EBE4"/>
            </a:solidFill>
            <a:prstDash val="solid"/>
          </a:ln>
        </p:spPr>
        <p:txBody>
          <a:bodyPr/>
          <a:lstStyle/>
          <a:p>
            <a:endParaRPr lang="zh-CN" altLang="en-US"/>
          </a:p>
        </p:txBody>
      </p:sp>
      <p:sp>
        <p:nvSpPr>
          <p:cNvPr id="4" name="Symptom checkers ring"/>
          <p:cNvSpPr/>
          <p:nvPr/>
        </p:nvSpPr>
        <p:spPr>
          <a:xfrm>
            <a:off x="722376" y="1545336"/>
            <a:ext cx="704088" cy="704088"/>
          </a:xfrm>
          <a:prstGeom prst="ellipse">
            <a:avLst/>
          </a:prstGeom>
          <a:solidFill>
            <a:schemeClr val="bg1"/>
          </a:solidFill>
          <a:ln/>
        </p:spPr>
        <p:txBody>
          <a:bodyPr/>
          <a:lstStyle/>
          <a:p>
            <a:endParaRPr lang="zh-CN" altLang="en-US"/>
          </a:p>
        </p:txBody>
      </p:sp>
      <p:sp>
        <p:nvSpPr>
          <p:cNvPr id="5" name="Symptom checkers circle"/>
          <p:cNvSpPr/>
          <p:nvPr/>
        </p:nvSpPr>
        <p:spPr>
          <a:xfrm>
            <a:off x="777240" y="1600200"/>
            <a:ext cx="594360" cy="594360"/>
          </a:xfrm>
          <a:prstGeom prst="ellipse">
            <a:avLst/>
          </a:prstGeom>
          <a:solidFill>
            <a:schemeClr val="accent1"/>
          </a:solidFill>
          <a:ln/>
        </p:spPr>
        <p:txBody>
          <a:bodyPr/>
          <a:lstStyle/>
          <a:p>
            <a:endParaRPr lang="zh-CN" altLang="en-US"/>
          </a:p>
        </p:txBody>
      </p:sp>
      <p:pic>
        <p:nvPicPr>
          <p:cNvPr id="6" name="Symptom checkers glyph" descr="preencoded.png"/>
          <p:cNvPicPr>
            <a:picLocks noChangeAspect="1"/>
          </p:cNvPicPr>
          <p:nvPr/>
        </p:nvPicPr>
        <p:blipFill>
          <a:blip r:embed="rId3"/>
          <a:stretch>
            <a:fillRect/>
          </a:stretch>
        </p:blipFill>
        <p:spPr>
          <a:xfrm>
            <a:off x="931774" y="1754734"/>
            <a:ext cx="285293" cy="285293"/>
          </a:xfrm>
          <a:prstGeom prst="rect">
            <a:avLst/>
          </a:prstGeom>
        </p:spPr>
      </p:pic>
      <p:sp>
        <p:nvSpPr>
          <p:cNvPr id="7" name="Text 4"/>
          <p:cNvSpPr txBox="1"/>
          <p:nvPr/>
        </p:nvSpPr>
        <p:spPr>
          <a:xfrm>
            <a:off x="777240" y="2377440"/>
            <a:ext cx="2194560" cy="457200"/>
          </a:xfrm>
          <a:prstGeom prst="rect">
            <a:avLst/>
          </a:prstGeom>
          <a:noFill/>
          <a:ln/>
        </p:spPr>
        <p:txBody>
          <a:bodyPr wrap="square" lIns="0" tIns="0" rIns="0" bIns="0" rtlCol="0" anchor="ctr"/>
          <a:lstStyle/>
          <a:p>
            <a:pPr marL="0" indent="0">
              <a:buNone/>
            </a:pPr>
            <a:r>
              <a:rPr lang="en-US" sz="1800" b="1" dirty="0">
                <a:solidFill>
                  <a:schemeClr val="tx2"/>
                </a:solidFill>
                <a:latin typeface="Arial" pitchFamily="34" charset="0"/>
                <a:ea typeface="Arial" pitchFamily="34" charset="-122"/>
                <a:cs typeface="Arial" pitchFamily="34" charset="-120"/>
              </a:rPr>
              <a:t>Symptom checkers</a:t>
            </a:r>
            <a:endParaRPr lang="en-US" sz="1800" dirty="0"/>
          </a:p>
        </p:txBody>
      </p:sp>
      <p:sp>
        <p:nvSpPr>
          <p:cNvPr id="8" name="Text 5"/>
          <p:cNvSpPr txBox="1"/>
          <p:nvPr/>
        </p:nvSpPr>
        <p:spPr>
          <a:xfrm>
            <a:off x="777240" y="2880360"/>
            <a:ext cx="2194560" cy="137160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Ada Health, Buoy Health, WebMD Symptom Checker</a:t>
            </a:r>
            <a:endParaRPr lang="en-US" sz="1300" dirty="0"/>
          </a:p>
        </p:txBody>
      </p:sp>
      <p:sp>
        <p:nvSpPr>
          <p:cNvPr id="9" name="Ambient AI scribes card"/>
          <p:cNvSpPr/>
          <p:nvPr/>
        </p:nvSpPr>
        <p:spPr>
          <a:xfrm>
            <a:off x="3337560" y="1371600"/>
            <a:ext cx="2606040" cy="3017520"/>
          </a:xfrm>
          <a:prstGeom prst="roundRect">
            <a:avLst>
              <a:gd name="adj" fmla="val 4211"/>
            </a:avLst>
          </a:prstGeom>
          <a:solidFill>
            <a:schemeClr val="bg1"/>
          </a:solidFill>
          <a:ln w="12700">
            <a:solidFill>
              <a:srgbClr val="D9EBE4"/>
            </a:solidFill>
            <a:prstDash val="solid"/>
          </a:ln>
        </p:spPr>
        <p:txBody>
          <a:bodyPr/>
          <a:lstStyle/>
          <a:p>
            <a:endParaRPr lang="zh-CN" altLang="en-US"/>
          </a:p>
        </p:txBody>
      </p:sp>
      <p:sp>
        <p:nvSpPr>
          <p:cNvPr id="10" name="Ambient AI scribes ring"/>
          <p:cNvSpPr/>
          <p:nvPr/>
        </p:nvSpPr>
        <p:spPr>
          <a:xfrm>
            <a:off x="3511296" y="1545336"/>
            <a:ext cx="704088" cy="704088"/>
          </a:xfrm>
          <a:prstGeom prst="ellipse">
            <a:avLst/>
          </a:prstGeom>
          <a:solidFill>
            <a:schemeClr val="bg1"/>
          </a:solidFill>
          <a:ln/>
        </p:spPr>
        <p:txBody>
          <a:bodyPr/>
          <a:lstStyle/>
          <a:p>
            <a:endParaRPr lang="zh-CN" altLang="en-US"/>
          </a:p>
        </p:txBody>
      </p:sp>
      <p:sp>
        <p:nvSpPr>
          <p:cNvPr id="11" name="Ambient AI scribes circle"/>
          <p:cNvSpPr/>
          <p:nvPr/>
        </p:nvSpPr>
        <p:spPr>
          <a:xfrm>
            <a:off x="3566160" y="1600200"/>
            <a:ext cx="594360" cy="594360"/>
          </a:xfrm>
          <a:prstGeom prst="ellipse">
            <a:avLst/>
          </a:prstGeom>
          <a:solidFill>
            <a:schemeClr val="accent1"/>
          </a:solidFill>
          <a:ln/>
        </p:spPr>
        <p:txBody>
          <a:bodyPr/>
          <a:lstStyle/>
          <a:p>
            <a:endParaRPr lang="zh-CN" altLang="en-US"/>
          </a:p>
        </p:txBody>
      </p:sp>
      <p:pic>
        <p:nvPicPr>
          <p:cNvPr id="12" name="Ambient AI scribes glyph" descr="preencoded.png"/>
          <p:cNvPicPr>
            <a:picLocks noChangeAspect="1"/>
          </p:cNvPicPr>
          <p:nvPr/>
        </p:nvPicPr>
        <p:blipFill>
          <a:blip r:embed="rId4"/>
          <a:stretch>
            <a:fillRect/>
          </a:stretch>
        </p:blipFill>
        <p:spPr>
          <a:xfrm>
            <a:off x="3720694" y="1754734"/>
            <a:ext cx="285293" cy="285293"/>
          </a:xfrm>
          <a:prstGeom prst="rect">
            <a:avLst/>
          </a:prstGeom>
        </p:spPr>
      </p:pic>
      <p:sp>
        <p:nvSpPr>
          <p:cNvPr id="13" name="Text 9"/>
          <p:cNvSpPr txBox="1"/>
          <p:nvPr/>
        </p:nvSpPr>
        <p:spPr>
          <a:xfrm>
            <a:off x="3566160" y="2377440"/>
            <a:ext cx="2194560" cy="457200"/>
          </a:xfrm>
          <a:prstGeom prst="rect">
            <a:avLst/>
          </a:prstGeom>
          <a:noFill/>
          <a:ln/>
        </p:spPr>
        <p:txBody>
          <a:bodyPr wrap="square" lIns="0" tIns="0" rIns="0" bIns="0" rtlCol="0" anchor="ctr"/>
          <a:lstStyle/>
          <a:p>
            <a:pPr marL="0" indent="0">
              <a:buNone/>
            </a:pPr>
            <a:r>
              <a:rPr lang="en-US" sz="1800" b="1" dirty="0">
                <a:solidFill>
                  <a:schemeClr val="tx2"/>
                </a:solidFill>
                <a:latin typeface="Arial" pitchFamily="34" charset="0"/>
                <a:ea typeface="Arial" pitchFamily="34" charset="-122"/>
                <a:cs typeface="Arial" pitchFamily="34" charset="-120"/>
              </a:rPr>
              <a:t>Ambient AI scribes</a:t>
            </a:r>
            <a:endParaRPr lang="en-US" sz="1800" dirty="0"/>
          </a:p>
        </p:txBody>
      </p:sp>
      <p:sp>
        <p:nvSpPr>
          <p:cNvPr id="14" name="Text 10"/>
          <p:cNvSpPr txBox="1"/>
          <p:nvPr/>
        </p:nvSpPr>
        <p:spPr>
          <a:xfrm>
            <a:off x="3566160" y="2880360"/>
            <a:ext cx="2194560" cy="137160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Abridge, Microsoft DAX (Nuance), Nabla</a:t>
            </a:r>
            <a:endParaRPr lang="en-US" sz="1300" dirty="0"/>
          </a:p>
        </p:txBody>
      </p:sp>
      <p:sp>
        <p:nvSpPr>
          <p:cNvPr id="15" name="Patient portals card"/>
          <p:cNvSpPr/>
          <p:nvPr/>
        </p:nvSpPr>
        <p:spPr>
          <a:xfrm>
            <a:off x="6126480" y="1371600"/>
            <a:ext cx="2606040" cy="3017520"/>
          </a:xfrm>
          <a:prstGeom prst="roundRect">
            <a:avLst>
              <a:gd name="adj" fmla="val 4211"/>
            </a:avLst>
          </a:prstGeom>
          <a:solidFill>
            <a:schemeClr val="bg1"/>
          </a:solidFill>
          <a:ln w="12700">
            <a:solidFill>
              <a:srgbClr val="D9EBE4"/>
            </a:solidFill>
            <a:prstDash val="solid"/>
          </a:ln>
        </p:spPr>
        <p:txBody>
          <a:bodyPr/>
          <a:lstStyle/>
          <a:p>
            <a:endParaRPr lang="zh-CN" altLang="en-US"/>
          </a:p>
        </p:txBody>
      </p:sp>
      <p:sp>
        <p:nvSpPr>
          <p:cNvPr id="16" name="Patient portals ring"/>
          <p:cNvSpPr/>
          <p:nvPr/>
        </p:nvSpPr>
        <p:spPr>
          <a:xfrm>
            <a:off x="6300216" y="1545336"/>
            <a:ext cx="704088" cy="704088"/>
          </a:xfrm>
          <a:prstGeom prst="ellipse">
            <a:avLst/>
          </a:prstGeom>
          <a:solidFill>
            <a:schemeClr val="bg1"/>
          </a:solidFill>
          <a:ln/>
        </p:spPr>
        <p:txBody>
          <a:bodyPr/>
          <a:lstStyle/>
          <a:p>
            <a:endParaRPr lang="zh-CN" altLang="en-US"/>
          </a:p>
        </p:txBody>
      </p:sp>
      <p:sp>
        <p:nvSpPr>
          <p:cNvPr id="17" name="Patient portals circle"/>
          <p:cNvSpPr/>
          <p:nvPr/>
        </p:nvSpPr>
        <p:spPr>
          <a:xfrm>
            <a:off x="6355080" y="1600200"/>
            <a:ext cx="594360" cy="594360"/>
          </a:xfrm>
          <a:prstGeom prst="ellipse">
            <a:avLst/>
          </a:prstGeom>
          <a:solidFill>
            <a:schemeClr val="accent1"/>
          </a:solidFill>
          <a:ln/>
        </p:spPr>
        <p:txBody>
          <a:bodyPr/>
          <a:lstStyle/>
          <a:p>
            <a:endParaRPr lang="zh-CN" altLang="en-US"/>
          </a:p>
        </p:txBody>
      </p:sp>
      <p:pic>
        <p:nvPicPr>
          <p:cNvPr id="18" name="Patient portals glyph" descr="preencoded.png"/>
          <p:cNvPicPr>
            <a:picLocks noChangeAspect="1"/>
          </p:cNvPicPr>
          <p:nvPr/>
        </p:nvPicPr>
        <p:blipFill>
          <a:blip r:embed="rId5"/>
          <a:stretch>
            <a:fillRect/>
          </a:stretch>
        </p:blipFill>
        <p:spPr>
          <a:xfrm>
            <a:off x="6509614" y="1754734"/>
            <a:ext cx="285293" cy="285293"/>
          </a:xfrm>
          <a:prstGeom prst="rect">
            <a:avLst/>
          </a:prstGeom>
        </p:spPr>
      </p:pic>
      <p:sp>
        <p:nvSpPr>
          <p:cNvPr id="19" name="Text 14"/>
          <p:cNvSpPr txBox="1"/>
          <p:nvPr/>
        </p:nvSpPr>
        <p:spPr>
          <a:xfrm>
            <a:off x="6355080" y="2377440"/>
            <a:ext cx="2194560" cy="457200"/>
          </a:xfrm>
          <a:prstGeom prst="rect">
            <a:avLst/>
          </a:prstGeom>
          <a:noFill/>
          <a:ln/>
        </p:spPr>
        <p:txBody>
          <a:bodyPr wrap="square" lIns="0" tIns="0" rIns="0" bIns="0" rtlCol="0" anchor="ctr"/>
          <a:lstStyle/>
          <a:p>
            <a:pPr marL="0" indent="0">
              <a:buNone/>
            </a:pPr>
            <a:r>
              <a:rPr lang="en-US" sz="1800" b="1" dirty="0">
                <a:solidFill>
                  <a:schemeClr val="tx2"/>
                </a:solidFill>
                <a:latin typeface="Arial" pitchFamily="34" charset="0"/>
                <a:ea typeface="Arial" pitchFamily="34" charset="-122"/>
                <a:cs typeface="Arial" pitchFamily="34" charset="-120"/>
              </a:rPr>
              <a:t>Patient portals</a:t>
            </a:r>
            <a:endParaRPr lang="en-US" sz="1800" dirty="0"/>
          </a:p>
        </p:txBody>
      </p:sp>
      <p:sp>
        <p:nvSpPr>
          <p:cNvPr id="20" name="Text 15"/>
          <p:cNvSpPr txBox="1"/>
          <p:nvPr/>
        </p:nvSpPr>
        <p:spPr>
          <a:xfrm>
            <a:off x="6355080" y="2880360"/>
            <a:ext cx="2194560" cy="137160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Epic MyChart; post-visit guidance in hospital apps</a:t>
            </a:r>
            <a:endParaRPr lang="en-US" sz="1300" dirty="0"/>
          </a:p>
        </p:txBody>
      </p:sp>
      <p:sp>
        <p:nvSpPr>
          <p:cNvPr id="21" name="General LLMs card"/>
          <p:cNvSpPr/>
          <p:nvPr/>
        </p:nvSpPr>
        <p:spPr>
          <a:xfrm>
            <a:off x="8915400" y="1371600"/>
            <a:ext cx="2606040" cy="3017520"/>
          </a:xfrm>
          <a:prstGeom prst="roundRect">
            <a:avLst>
              <a:gd name="adj" fmla="val 4211"/>
            </a:avLst>
          </a:prstGeom>
          <a:solidFill>
            <a:schemeClr val="bg1"/>
          </a:solidFill>
          <a:ln w="12700">
            <a:solidFill>
              <a:srgbClr val="D9EBE4"/>
            </a:solidFill>
            <a:prstDash val="solid"/>
          </a:ln>
        </p:spPr>
        <p:txBody>
          <a:bodyPr/>
          <a:lstStyle/>
          <a:p>
            <a:endParaRPr lang="zh-CN" altLang="en-US"/>
          </a:p>
        </p:txBody>
      </p:sp>
      <p:sp>
        <p:nvSpPr>
          <p:cNvPr id="22" name="General LLMs ring"/>
          <p:cNvSpPr/>
          <p:nvPr/>
        </p:nvSpPr>
        <p:spPr>
          <a:xfrm>
            <a:off x="9089136" y="1545336"/>
            <a:ext cx="704088" cy="704088"/>
          </a:xfrm>
          <a:prstGeom prst="ellipse">
            <a:avLst/>
          </a:prstGeom>
          <a:solidFill>
            <a:schemeClr val="bg1"/>
          </a:solidFill>
          <a:ln/>
        </p:spPr>
        <p:txBody>
          <a:bodyPr/>
          <a:lstStyle/>
          <a:p>
            <a:endParaRPr lang="zh-CN" altLang="en-US"/>
          </a:p>
        </p:txBody>
      </p:sp>
      <p:sp>
        <p:nvSpPr>
          <p:cNvPr id="23" name="General LLMs circle"/>
          <p:cNvSpPr/>
          <p:nvPr/>
        </p:nvSpPr>
        <p:spPr>
          <a:xfrm>
            <a:off x="9144000" y="1600200"/>
            <a:ext cx="594360" cy="594360"/>
          </a:xfrm>
          <a:prstGeom prst="ellipse">
            <a:avLst/>
          </a:prstGeom>
          <a:solidFill>
            <a:schemeClr val="accent1"/>
          </a:solidFill>
          <a:ln/>
        </p:spPr>
        <p:txBody>
          <a:bodyPr/>
          <a:lstStyle/>
          <a:p>
            <a:endParaRPr lang="zh-CN" altLang="en-US"/>
          </a:p>
        </p:txBody>
      </p:sp>
      <p:pic>
        <p:nvPicPr>
          <p:cNvPr id="24" name="General LLMs glyph" descr="preencoded.png"/>
          <p:cNvPicPr>
            <a:picLocks noChangeAspect="1"/>
          </p:cNvPicPr>
          <p:nvPr/>
        </p:nvPicPr>
        <p:blipFill>
          <a:blip r:embed="rId6"/>
          <a:stretch>
            <a:fillRect/>
          </a:stretch>
        </p:blipFill>
        <p:spPr>
          <a:xfrm>
            <a:off x="9298534" y="1754734"/>
            <a:ext cx="285293" cy="285293"/>
          </a:xfrm>
          <a:prstGeom prst="rect">
            <a:avLst/>
          </a:prstGeom>
        </p:spPr>
      </p:pic>
      <p:sp>
        <p:nvSpPr>
          <p:cNvPr id="25" name="Text 19"/>
          <p:cNvSpPr txBox="1"/>
          <p:nvPr/>
        </p:nvSpPr>
        <p:spPr>
          <a:xfrm>
            <a:off x="9144000" y="2377440"/>
            <a:ext cx="2194560" cy="457200"/>
          </a:xfrm>
          <a:prstGeom prst="rect">
            <a:avLst/>
          </a:prstGeom>
          <a:noFill/>
          <a:ln/>
        </p:spPr>
        <p:txBody>
          <a:bodyPr wrap="square" lIns="0" tIns="0" rIns="0" bIns="0" rtlCol="0" anchor="ctr"/>
          <a:lstStyle/>
          <a:p>
            <a:pPr marL="0" indent="0">
              <a:buNone/>
            </a:pPr>
            <a:r>
              <a:rPr lang="en-US" sz="1800" b="1" dirty="0">
                <a:solidFill>
                  <a:schemeClr val="tx2"/>
                </a:solidFill>
                <a:latin typeface="Arial" pitchFamily="34" charset="0"/>
                <a:ea typeface="Arial" pitchFamily="34" charset="-122"/>
                <a:cs typeface="Arial" pitchFamily="34" charset="-120"/>
              </a:rPr>
              <a:t>General LLMs</a:t>
            </a:r>
            <a:endParaRPr lang="en-US" sz="1800" dirty="0"/>
          </a:p>
        </p:txBody>
      </p:sp>
      <p:sp>
        <p:nvSpPr>
          <p:cNvPr id="26" name="Text 20"/>
          <p:cNvSpPr txBox="1"/>
          <p:nvPr/>
        </p:nvSpPr>
        <p:spPr>
          <a:xfrm>
            <a:off x="9144000" y="2880360"/>
            <a:ext cx="2194560" cy="1371600"/>
          </a:xfrm>
          <a:prstGeom prst="rect">
            <a:avLst/>
          </a:prstGeom>
          <a:noFill/>
          <a:ln/>
        </p:spPr>
        <p:txBody>
          <a:bodyPr wrap="square" lIns="0" tIns="0" rIns="0" bIns="0" rtlCol="0" anchor="t"/>
          <a:lstStyle/>
          <a:p>
            <a:pPr marL="0" indent="0">
              <a:buNone/>
            </a:pPr>
            <a:r>
              <a:rPr lang="en-US" sz="1300" dirty="0">
                <a:solidFill>
                  <a:schemeClr val="tx1"/>
                </a:solidFill>
                <a:latin typeface="Arial" pitchFamily="34" charset="0"/>
                <a:ea typeface="Arial" pitchFamily="34" charset="-122"/>
                <a:cs typeface="Arial" pitchFamily="34" charset="-120"/>
              </a:rPr>
              <a:t>ChatGPT, Claude, used directly to read records or look up medicines</a:t>
            </a:r>
            <a:endParaRPr lang="en-US" sz="1300" dirty="0"/>
          </a:p>
        </p:txBody>
      </p:sp>
      <p:sp>
        <p:nvSpPr>
          <p:cNvPr id="27" name="our position"/>
          <p:cNvSpPr/>
          <p:nvPr/>
        </p:nvSpPr>
        <p:spPr>
          <a:xfrm>
            <a:off x="548640" y="4663440"/>
            <a:ext cx="11064240" cy="1097280"/>
          </a:xfrm>
          <a:prstGeom prst="roundRect">
            <a:avLst>
              <a:gd name="adj" fmla="val 10000"/>
            </a:avLst>
          </a:prstGeom>
          <a:solidFill>
            <a:schemeClr val="tx2"/>
          </a:solidFill>
          <a:ln/>
        </p:spPr>
        <p:txBody>
          <a:bodyPr/>
          <a:lstStyle/>
          <a:p>
            <a:endParaRPr lang="zh-CN" altLang="en-US"/>
          </a:p>
        </p:txBody>
      </p:sp>
      <p:sp>
        <p:nvSpPr>
          <p:cNvPr id="28" name="Text 22"/>
          <p:cNvSpPr txBox="1"/>
          <p:nvPr/>
        </p:nvSpPr>
        <p:spPr>
          <a:xfrm>
            <a:off x="822960" y="4663440"/>
            <a:ext cx="10515600" cy="1097280"/>
          </a:xfrm>
          <a:prstGeom prst="rect">
            <a:avLst/>
          </a:prstGeom>
          <a:noFill/>
          <a:ln/>
        </p:spPr>
        <p:txBody>
          <a:bodyPr wrap="square" lIns="0" tIns="0" rIns="0" bIns="0" rtlCol="0" anchor="ctr"/>
          <a:lstStyle/>
          <a:p>
            <a:pPr marL="0" indent="0">
              <a:buNone/>
            </a:pPr>
            <a:r>
              <a:rPr lang="en-US" sz="1600" b="1" dirty="0">
                <a:solidFill>
                  <a:schemeClr val="accent3"/>
                </a:solidFill>
                <a:latin typeface="Arial" pitchFamily="34" charset="0"/>
                <a:ea typeface="Arial" pitchFamily="34" charset="-122"/>
                <a:cs typeface="Arial" pitchFamily="34" charset="-120"/>
              </a:rPr>
              <a:t>VisitSmoothie: </a:t>
            </a:r>
            <a:r>
              <a:rPr lang="en-US" sz="1600" dirty="0">
                <a:solidFill>
                  <a:schemeClr val="bg1"/>
                </a:solidFill>
                <a:latin typeface="Arial" pitchFamily="34" charset="0"/>
                <a:ea typeface="Arial" pitchFamily="34" charset="-122"/>
                <a:cs typeface="Arial" pitchFamily="34" charset="-120"/>
              </a:rPr>
              <a:t>built for the patient, across one visit: a complete story before it, a plan they can follow after it, and one record that carries into the next.</a:t>
            </a:r>
            <a:endParaRPr lang="en-US" sz="1600" dirty="0"/>
          </a:p>
        </p:txBody>
      </p:sp>
      <p:sp>
        <p:nvSpPr>
          <p:cNvPr id="29"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pic>
        <p:nvPicPr>
          <p:cNvPr id="38" name="图片 37">
            <a:extLst>
              <a:ext uri="{FF2B5EF4-FFF2-40B4-BE49-F238E27FC236}">
                <a16:creationId xmlns:a16="http://schemas.microsoft.com/office/drawing/2014/main" id="{4D8EAD69-C889-3616-CE0A-E6B543358B20}"/>
              </a:ext>
            </a:extLst>
          </p:cNvPr>
          <p:cNvPicPr>
            <a:picLocks noChangeAspect="1"/>
          </p:cNvPicPr>
          <p:nvPr/>
        </p:nvPicPr>
        <p:blipFill>
          <a:blip r:embed="rId7"/>
          <a:stretch>
            <a:fillRect/>
          </a:stretch>
        </p:blipFill>
        <p:spPr>
          <a:xfrm>
            <a:off x="896" y="-16965"/>
            <a:ext cx="12191104" cy="6839286"/>
          </a:xfrm>
          <a:prstGeom prst="rect">
            <a:avLst/>
          </a:prstGeom>
        </p:spPr>
      </p:pic>
      <p:pic>
        <p:nvPicPr>
          <p:cNvPr id="39" name="图片 38">
            <a:extLst>
              <a:ext uri="{FF2B5EF4-FFF2-40B4-BE49-F238E27FC236}">
                <a16:creationId xmlns:a16="http://schemas.microsoft.com/office/drawing/2014/main" id="{F6274E3C-5E5D-F350-3080-144CAE580D06}"/>
              </a:ext>
            </a:extLst>
          </p:cNvPr>
          <p:cNvPicPr>
            <a:picLocks noChangeAspect="1"/>
          </p:cNvPicPr>
          <p:nvPr/>
        </p:nvPicPr>
        <p:blipFill>
          <a:blip r:embed="rId8"/>
          <a:stretch>
            <a:fillRect/>
          </a:stretch>
        </p:blipFill>
        <p:spPr>
          <a:xfrm>
            <a:off x="-26936" y="0"/>
            <a:ext cx="3184071" cy="10613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3BA63B-AE33-C890-3050-A30214AFC144}"/>
              </a:ext>
            </a:extLst>
          </p:cNvPr>
          <p:cNvSpPr>
            <a:spLocks noGrp="1"/>
          </p:cNvSpPr>
          <p:nvPr>
            <p:ph type="title" idx="101"/>
          </p:nvPr>
        </p:nvSpPr>
        <p:spPr/>
        <p:txBody>
          <a:bodyPr/>
          <a:lstStyle/>
          <a:p>
            <a:endParaRPr kumimoji="1" lang="zh-CN" altLang="en-US"/>
          </a:p>
        </p:txBody>
      </p:sp>
      <p:pic>
        <p:nvPicPr>
          <p:cNvPr id="6" name="图片 5">
            <a:extLst>
              <a:ext uri="{FF2B5EF4-FFF2-40B4-BE49-F238E27FC236}">
                <a16:creationId xmlns:a16="http://schemas.microsoft.com/office/drawing/2014/main" id="{65FE101F-182D-97B7-D656-D654B4A56535}"/>
              </a:ext>
            </a:extLst>
          </p:cNvPr>
          <p:cNvPicPr>
            <a:picLocks noChangeAspect="1"/>
          </p:cNvPicPr>
          <p:nvPr/>
        </p:nvPicPr>
        <p:blipFill>
          <a:blip r:embed="rId3"/>
          <a:stretch>
            <a:fillRect/>
          </a:stretch>
        </p:blipFill>
        <p:spPr>
          <a:xfrm>
            <a:off x="0" y="161365"/>
            <a:ext cx="12273762" cy="7062395"/>
          </a:xfrm>
          <a:prstGeom prst="rect">
            <a:avLst/>
          </a:prstGeom>
        </p:spPr>
      </p:pic>
      <p:pic>
        <p:nvPicPr>
          <p:cNvPr id="4" name="图片 3">
            <a:extLst>
              <a:ext uri="{FF2B5EF4-FFF2-40B4-BE49-F238E27FC236}">
                <a16:creationId xmlns:a16="http://schemas.microsoft.com/office/drawing/2014/main" id="{D3A697F4-32A3-2F57-0D75-9E3208CC0DB3}"/>
              </a:ext>
            </a:extLst>
          </p:cNvPr>
          <p:cNvPicPr>
            <a:picLocks noChangeAspect="1"/>
          </p:cNvPicPr>
          <p:nvPr/>
        </p:nvPicPr>
        <p:blipFill>
          <a:blip r:embed="rId4"/>
          <a:stretch>
            <a:fillRect/>
          </a:stretch>
        </p:blipFill>
        <p:spPr>
          <a:xfrm>
            <a:off x="-26936" y="0"/>
            <a:ext cx="3184071" cy="1061357"/>
          </a:xfrm>
          <a:prstGeom prst="rect">
            <a:avLst/>
          </a:prstGeom>
        </p:spPr>
      </p:pic>
    </p:spTree>
    <p:extLst>
      <p:ext uri="{BB962C8B-B14F-4D97-AF65-F5344CB8AC3E}">
        <p14:creationId xmlns:p14="http://schemas.microsoft.com/office/powerpoint/2010/main" val="3027490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9259" y="1143816"/>
            <a:ext cx="10972800" cy="914400"/>
          </a:xfrm>
          <a:prstGeom prst="rect">
            <a:avLst/>
          </a:prstGeom>
          <a:noFill/>
          <a:ln/>
        </p:spPr>
        <p:txBody>
          <a:bodyPr wrap="square" lIns="0" tIns="0" rIns="0" bIns="0" rtlCol="0" anchor="ctr"/>
          <a:lstStyle/>
          <a:p>
            <a:pPr marL="0" indent="0" algn="ctr">
              <a:buNone/>
            </a:pPr>
            <a:r>
              <a:rPr lang="en-US" sz="4400" b="1" dirty="0">
                <a:solidFill>
                  <a:schemeClr val="bg1"/>
                </a:solidFill>
                <a:latin typeface="Arial" pitchFamily="34" charset="0"/>
                <a:ea typeface="Arial" pitchFamily="34" charset="-122"/>
                <a:cs typeface="Arial" pitchFamily="34" charset="-120"/>
              </a:rPr>
              <a:t>Our Team</a:t>
            </a:r>
            <a:endParaRPr lang="en-US" sz="4400" dirty="0"/>
          </a:p>
        </p:txBody>
      </p:sp>
      <p:sp>
        <p:nvSpPr>
          <p:cNvPr id="3" name="Text 1"/>
          <p:cNvSpPr txBox="1"/>
          <p:nvPr/>
        </p:nvSpPr>
        <p:spPr>
          <a:xfrm>
            <a:off x="548640" y="1463040"/>
            <a:ext cx="10515600" cy="822960"/>
          </a:xfrm>
          <a:prstGeom prst="rect">
            <a:avLst/>
          </a:prstGeom>
          <a:noFill/>
          <a:ln/>
        </p:spPr>
        <p:txBody>
          <a:bodyPr wrap="square" lIns="0" tIns="0" rIns="0" bIns="0" rtlCol="0" anchor="t"/>
          <a:lstStyle/>
          <a:p>
            <a:pPr marL="0" indent="0">
              <a:buNone/>
            </a:pPr>
            <a:endParaRPr lang="en-US" sz="1800" dirty="0"/>
          </a:p>
        </p:txBody>
      </p:sp>
      <p:sp>
        <p:nvSpPr>
          <p:cNvPr id="4" name="Joanna avatar"/>
          <p:cNvSpPr/>
          <p:nvPr/>
        </p:nvSpPr>
        <p:spPr>
          <a:xfrm>
            <a:off x="1005840" y="2496638"/>
            <a:ext cx="1280160" cy="1280160"/>
          </a:xfrm>
          <a:prstGeom prst="ellipse">
            <a:avLst/>
          </a:prstGeom>
          <a:solidFill>
            <a:schemeClr val="accent3"/>
          </a:solidFill>
          <a:ln w="38100">
            <a:solidFill>
              <a:schemeClr val="bg1"/>
            </a:solidFill>
            <a:prstDash val="solid"/>
          </a:ln>
        </p:spPr>
        <p:txBody>
          <a:bodyPr/>
          <a:lstStyle/>
          <a:p>
            <a:endParaRPr lang="zh-CN" altLang="en-US"/>
          </a:p>
        </p:txBody>
      </p:sp>
      <p:sp>
        <p:nvSpPr>
          <p:cNvPr id="5" name="Text 3"/>
          <p:cNvSpPr txBox="1"/>
          <p:nvPr/>
        </p:nvSpPr>
        <p:spPr>
          <a:xfrm>
            <a:off x="1005840" y="2496638"/>
            <a:ext cx="1280160" cy="1280160"/>
          </a:xfrm>
          <a:prstGeom prst="rect">
            <a:avLst/>
          </a:prstGeom>
          <a:noFill/>
          <a:ln/>
        </p:spPr>
        <p:txBody>
          <a:bodyPr wrap="square" lIns="0" tIns="0" rIns="0" bIns="0" rtlCol="0" anchor="ctr"/>
          <a:lstStyle/>
          <a:p>
            <a:pPr marL="0" indent="0" algn="ctr">
              <a:buNone/>
            </a:pPr>
            <a:r>
              <a:rPr lang="en-US" sz="3600" b="1" dirty="0">
                <a:solidFill>
                  <a:schemeClr val="bg1"/>
                </a:solidFill>
                <a:latin typeface="Arial" pitchFamily="34" charset="0"/>
                <a:ea typeface="Arial" pitchFamily="34" charset="-122"/>
                <a:cs typeface="Arial" pitchFamily="34" charset="-120"/>
              </a:rPr>
              <a:t>J</a:t>
            </a:r>
            <a:endParaRPr lang="en-US" sz="3600" dirty="0"/>
          </a:p>
        </p:txBody>
      </p:sp>
      <p:sp>
        <p:nvSpPr>
          <p:cNvPr id="6" name="Text 4"/>
          <p:cNvSpPr txBox="1"/>
          <p:nvPr/>
        </p:nvSpPr>
        <p:spPr>
          <a:xfrm>
            <a:off x="777240" y="3913958"/>
            <a:ext cx="1737360" cy="365760"/>
          </a:xfrm>
          <a:prstGeom prst="rect">
            <a:avLst/>
          </a:prstGeom>
          <a:noFill/>
          <a:ln/>
        </p:spPr>
        <p:txBody>
          <a:bodyPr wrap="square" lIns="0" tIns="0" rIns="0" bIns="0" rtlCol="0" anchor="ctr"/>
          <a:lstStyle/>
          <a:p>
            <a:pPr marL="0" indent="0" algn="ctr">
              <a:buNone/>
            </a:pPr>
            <a:r>
              <a:rPr lang="en-US" sz="1800" b="1" dirty="0">
                <a:solidFill>
                  <a:schemeClr val="bg1"/>
                </a:solidFill>
                <a:latin typeface="Arial" pitchFamily="34" charset="0"/>
                <a:ea typeface="Arial" pitchFamily="34" charset="-122"/>
                <a:cs typeface="Arial" pitchFamily="34" charset="-120"/>
              </a:rPr>
              <a:t>Joanna</a:t>
            </a:r>
            <a:endParaRPr lang="en-US" sz="1800" dirty="0"/>
          </a:p>
        </p:txBody>
      </p:sp>
      <p:sp>
        <p:nvSpPr>
          <p:cNvPr id="7" name="Text 5"/>
          <p:cNvSpPr txBox="1"/>
          <p:nvPr/>
        </p:nvSpPr>
        <p:spPr>
          <a:xfrm>
            <a:off x="685800" y="4279718"/>
            <a:ext cx="1920240" cy="548640"/>
          </a:xfrm>
          <a:prstGeom prst="rect">
            <a:avLst/>
          </a:prstGeom>
          <a:noFill/>
          <a:ln/>
        </p:spPr>
        <p:txBody>
          <a:bodyPr wrap="square" lIns="0" tIns="0" rIns="0" bIns="0" rtlCol="0" anchor="t"/>
          <a:lstStyle/>
          <a:p>
            <a:pPr marL="0" indent="0" algn="ctr">
              <a:buNone/>
            </a:pPr>
            <a:r>
              <a:rPr lang="en-US" sz="1300" dirty="0">
                <a:solidFill>
                  <a:schemeClr val="accent2"/>
                </a:solidFill>
                <a:latin typeface="Arial" pitchFamily="34" charset="0"/>
                <a:ea typeface="Arial" pitchFamily="34" charset="-122"/>
                <a:cs typeface="Arial" pitchFamily="34" charset="-120"/>
              </a:rPr>
              <a:t>Product lead</a:t>
            </a:r>
            <a:endParaRPr lang="en-US" sz="1300" dirty="0"/>
          </a:p>
        </p:txBody>
      </p:sp>
      <p:sp>
        <p:nvSpPr>
          <p:cNvPr id="8" name="Ronnie avatar"/>
          <p:cNvSpPr/>
          <p:nvPr/>
        </p:nvSpPr>
        <p:spPr>
          <a:xfrm>
            <a:off x="3246120" y="2496638"/>
            <a:ext cx="1280160" cy="1280160"/>
          </a:xfrm>
          <a:prstGeom prst="ellipse">
            <a:avLst/>
          </a:prstGeom>
          <a:solidFill>
            <a:schemeClr val="accent1"/>
          </a:solidFill>
          <a:ln w="38100">
            <a:solidFill>
              <a:schemeClr val="bg1"/>
            </a:solidFill>
            <a:prstDash val="solid"/>
          </a:ln>
        </p:spPr>
        <p:txBody>
          <a:bodyPr/>
          <a:lstStyle/>
          <a:p>
            <a:endParaRPr lang="zh-CN" altLang="en-US"/>
          </a:p>
        </p:txBody>
      </p:sp>
      <p:sp>
        <p:nvSpPr>
          <p:cNvPr id="9" name="Text 7"/>
          <p:cNvSpPr txBox="1"/>
          <p:nvPr/>
        </p:nvSpPr>
        <p:spPr>
          <a:xfrm>
            <a:off x="3246120" y="2496638"/>
            <a:ext cx="1280160" cy="1280160"/>
          </a:xfrm>
          <a:prstGeom prst="rect">
            <a:avLst/>
          </a:prstGeom>
          <a:noFill/>
          <a:ln/>
        </p:spPr>
        <p:txBody>
          <a:bodyPr wrap="square" lIns="0" tIns="0" rIns="0" bIns="0" rtlCol="0" anchor="ctr"/>
          <a:lstStyle/>
          <a:p>
            <a:pPr marL="0" indent="0" algn="ctr">
              <a:buNone/>
            </a:pPr>
            <a:r>
              <a:rPr lang="en-US" sz="3600" b="1" dirty="0">
                <a:solidFill>
                  <a:schemeClr val="bg1"/>
                </a:solidFill>
                <a:latin typeface="Arial" pitchFamily="34" charset="0"/>
                <a:ea typeface="Arial" pitchFamily="34" charset="-122"/>
                <a:cs typeface="Arial" pitchFamily="34" charset="-120"/>
              </a:rPr>
              <a:t>R</a:t>
            </a:r>
            <a:endParaRPr lang="en-US" sz="3600" dirty="0"/>
          </a:p>
        </p:txBody>
      </p:sp>
      <p:sp>
        <p:nvSpPr>
          <p:cNvPr id="10" name="Text 8"/>
          <p:cNvSpPr txBox="1"/>
          <p:nvPr/>
        </p:nvSpPr>
        <p:spPr>
          <a:xfrm>
            <a:off x="3017520" y="3913958"/>
            <a:ext cx="1737360" cy="365760"/>
          </a:xfrm>
          <a:prstGeom prst="rect">
            <a:avLst/>
          </a:prstGeom>
          <a:noFill/>
          <a:ln/>
        </p:spPr>
        <p:txBody>
          <a:bodyPr wrap="square" lIns="0" tIns="0" rIns="0" bIns="0" rtlCol="0" anchor="ctr"/>
          <a:lstStyle/>
          <a:p>
            <a:pPr marL="0" indent="0" algn="ctr">
              <a:buNone/>
            </a:pPr>
            <a:r>
              <a:rPr lang="en-US" sz="1800" b="1" dirty="0">
                <a:solidFill>
                  <a:schemeClr val="bg1"/>
                </a:solidFill>
                <a:latin typeface="Arial" pitchFamily="34" charset="0"/>
                <a:ea typeface="Arial" pitchFamily="34" charset="-122"/>
                <a:cs typeface="Arial" pitchFamily="34" charset="-120"/>
              </a:rPr>
              <a:t>Ronnie</a:t>
            </a:r>
            <a:endParaRPr lang="en-US" sz="1800" dirty="0"/>
          </a:p>
        </p:txBody>
      </p:sp>
      <p:sp>
        <p:nvSpPr>
          <p:cNvPr id="11" name="Text 9"/>
          <p:cNvSpPr txBox="1"/>
          <p:nvPr/>
        </p:nvSpPr>
        <p:spPr>
          <a:xfrm>
            <a:off x="2926080" y="4279718"/>
            <a:ext cx="1920240" cy="548640"/>
          </a:xfrm>
          <a:prstGeom prst="rect">
            <a:avLst/>
          </a:prstGeom>
          <a:noFill/>
          <a:ln/>
        </p:spPr>
        <p:txBody>
          <a:bodyPr wrap="square" lIns="0" tIns="0" rIns="0" bIns="0" rtlCol="0" anchor="t"/>
          <a:lstStyle/>
          <a:p>
            <a:pPr marL="0" indent="0" algn="ctr">
              <a:buNone/>
            </a:pPr>
            <a:r>
              <a:rPr lang="en-US" sz="1300" dirty="0">
                <a:solidFill>
                  <a:schemeClr val="accent2"/>
                </a:solidFill>
                <a:latin typeface="Arial" pitchFamily="34" charset="0"/>
                <a:ea typeface="Arial" pitchFamily="34" charset="-122"/>
                <a:cs typeface="Arial" pitchFamily="34" charset="-120"/>
              </a:rPr>
              <a:t>Engineer</a:t>
            </a:r>
            <a:endParaRPr lang="en-US" sz="1300" dirty="0"/>
          </a:p>
        </p:txBody>
      </p:sp>
      <p:sp>
        <p:nvSpPr>
          <p:cNvPr id="12" name="Nancy avatar"/>
          <p:cNvSpPr/>
          <p:nvPr/>
        </p:nvSpPr>
        <p:spPr>
          <a:xfrm>
            <a:off x="5486400" y="2496638"/>
            <a:ext cx="1280160" cy="1280160"/>
          </a:xfrm>
          <a:prstGeom prst="ellipse">
            <a:avLst/>
          </a:prstGeom>
          <a:solidFill>
            <a:schemeClr val="accent1"/>
          </a:solidFill>
          <a:ln w="38100">
            <a:solidFill>
              <a:schemeClr val="bg1"/>
            </a:solidFill>
            <a:prstDash val="solid"/>
          </a:ln>
        </p:spPr>
        <p:txBody>
          <a:bodyPr/>
          <a:lstStyle/>
          <a:p>
            <a:endParaRPr lang="zh-CN" altLang="en-US"/>
          </a:p>
        </p:txBody>
      </p:sp>
      <p:sp>
        <p:nvSpPr>
          <p:cNvPr id="13" name="Text 11"/>
          <p:cNvSpPr txBox="1"/>
          <p:nvPr/>
        </p:nvSpPr>
        <p:spPr>
          <a:xfrm>
            <a:off x="5486400" y="2496638"/>
            <a:ext cx="1280160" cy="1280160"/>
          </a:xfrm>
          <a:prstGeom prst="rect">
            <a:avLst/>
          </a:prstGeom>
          <a:noFill/>
          <a:ln/>
        </p:spPr>
        <p:txBody>
          <a:bodyPr wrap="square" lIns="0" tIns="0" rIns="0" bIns="0" rtlCol="0" anchor="ctr"/>
          <a:lstStyle/>
          <a:p>
            <a:pPr marL="0" indent="0" algn="ctr">
              <a:buNone/>
            </a:pPr>
            <a:r>
              <a:rPr lang="en-US" sz="3600" b="1" dirty="0">
                <a:solidFill>
                  <a:schemeClr val="bg1"/>
                </a:solidFill>
                <a:latin typeface="Arial" pitchFamily="34" charset="0"/>
                <a:ea typeface="Arial" pitchFamily="34" charset="-122"/>
                <a:cs typeface="Arial" pitchFamily="34" charset="-120"/>
              </a:rPr>
              <a:t>N</a:t>
            </a:r>
            <a:endParaRPr lang="en-US" sz="3600" dirty="0"/>
          </a:p>
        </p:txBody>
      </p:sp>
      <p:sp>
        <p:nvSpPr>
          <p:cNvPr id="14" name="Text 12"/>
          <p:cNvSpPr txBox="1"/>
          <p:nvPr/>
        </p:nvSpPr>
        <p:spPr>
          <a:xfrm>
            <a:off x="5257800" y="3913958"/>
            <a:ext cx="1737360" cy="365760"/>
          </a:xfrm>
          <a:prstGeom prst="rect">
            <a:avLst/>
          </a:prstGeom>
          <a:noFill/>
          <a:ln/>
        </p:spPr>
        <p:txBody>
          <a:bodyPr wrap="square" lIns="0" tIns="0" rIns="0" bIns="0" rtlCol="0" anchor="ctr"/>
          <a:lstStyle/>
          <a:p>
            <a:pPr marL="0" indent="0" algn="ctr">
              <a:buNone/>
            </a:pPr>
            <a:r>
              <a:rPr lang="en-US" sz="1800" b="1" dirty="0">
                <a:solidFill>
                  <a:schemeClr val="bg1"/>
                </a:solidFill>
                <a:latin typeface="Arial" pitchFamily="34" charset="0"/>
                <a:ea typeface="Arial" pitchFamily="34" charset="-122"/>
                <a:cs typeface="Arial" pitchFamily="34" charset="-120"/>
              </a:rPr>
              <a:t>Nancy</a:t>
            </a:r>
            <a:endParaRPr lang="en-US" sz="1800" dirty="0"/>
          </a:p>
        </p:txBody>
      </p:sp>
      <p:sp>
        <p:nvSpPr>
          <p:cNvPr id="15" name="Text 13"/>
          <p:cNvSpPr txBox="1"/>
          <p:nvPr/>
        </p:nvSpPr>
        <p:spPr>
          <a:xfrm>
            <a:off x="5166360" y="4279718"/>
            <a:ext cx="1920240" cy="548640"/>
          </a:xfrm>
          <a:prstGeom prst="rect">
            <a:avLst/>
          </a:prstGeom>
          <a:noFill/>
          <a:ln/>
        </p:spPr>
        <p:txBody>
          <a:bodyPr wrap="square" lIns="0" tIns="0" rIns="0" bIns="0" rtlCol="0" anchor="t"/>
          <a:lstStyle/>
          <a:p>
            <a:pPr marL="0" indent="0" algn="ctr">
              <a:buNone/>
            </a:pPr>
            <a:r>
              <a:rPr lang="en-US" sz="1300" dirty="0">
                <a:solidFill>
                  <a:schemeClr val="accent2"/>
                </a:solidFill>
                <a:latin typeface="Arial" pitchFamily="34" charset="0"/>
                <a:ea typeface="Arial" pitchFamily="34" charset="-122"/>
                <a:cs typeface="Arial" pitchFamily="34" charset="-120"/>
              </a:rPr>
              <a:t>Engineer</a:t>
            </a:r>
            <a:endParaRPr lang="en-US" sz="1300" dirty="0"/>
          </a:p>
        </p:txBody>
      </p:sp>
      <p:sp>
        <p:nvSpPr>
          <p:cNvPr id="16" name="Robin avatar"/>
          <p:cNvSpPr/>
          <p:nvPr/>
        </p:nvSpPr>
        <p:spPr>
          <a:xfrm>
            <a:off x="7726680" y="2496638"/>
            <a:ext cx="1280160" cy="1280160"/>
          </a:xfrm>
          <a:prstGeom prst="ellipse">
            <a:avLst/>
          </a:prstGeom>
          <a:solidFill>
            <a:schemeClr val="accent1"/>
          </a:solidFill>
          <a:ln w="38100">
            <a:solidFill>
              <a:schemeClr val="bg1"/>
            </a:solidFill>
            <a:prstDash val="solid"/>
          </a:ln>
        </p:spPr>
        <p:txBody>
          <a:bodyPr/>
          <a:lstStyle/>
          <a:p>
            <a:endParaRPr lang="zh-CN" altLang="en-US"/>
          </a:p>
        </p:txBody>
      </p:sp>
      <p:sp>
        <p:nvSpPr>
          <p:cNvPr id="17" name="Text 15"/>
          <p:cNvSpPr txBox="1"/>
          <p:nvPr/>
        </p:nvSpPr>
        <p:spPr>
          <a:xfrm>
            <a:off x="7726680" y="2496638"/>
            <a:ext cx="1280160" cy="1280160"/>
          </a:xfrm>
          <a:prstGeom prst="rect">
            <a:avLst/>
          </a:prstGeom>
          <a:noFill/>
          <a:ln/>
        </p:spPr>
        <p:txBody>
          <a:bodyPr wrap="square" lIns="0" tIns="0" rIns="0" bIns="0" rtlCol="0" anchor="ctr"/>
          <a:lstStyle/>
          <a:p>
            <a:pPr marL="0" indent="0" algn="ctr">
              <a:buNone/>
            </a:pPr>
            <a:r>
              <a:rPr lang="en-US" sz="3600" b="1" dirty="0">
                <a:solidFill>
                  <a:schemeClr val="bg1"/>
                </a:solidFill>
                <a:latin typeface="Arial" pitchFamily="34" charset="0"/>
                <a:ea typeface="Arial" pitchFamily="34" charset="-122"/>
                <a:cs typeface="Arial" pitchFamily="34" charset="-120"/>
              </a:rPr>
              <a:t>R</a:t>
            </a:r>
            <a:endParaRPr lang="en-US" sz="3600" dirty="0"/>
          </a:p>
        </p:txBody>
      </p:sp>
      <p:sp>
        <p:nvSpPr>
          <p:cNvPr id="18" name="Text 16"/>
          <p:cNvSpPr txBox="1"/>
          <p:nvPr/>
        </p:nvSpPr>
        <p:spPr>
          <a:xfrm>
            <a:off x="7498080" y="3913958"/>
            <a:ext cx="1737360" cy="365760"/>
          </a:xfrm>
          <a:prstGeom prst="rect">
            <a:avLst/>
          </a:prstGeom>
          <a:noFill/>
          <a:ln/>
        </p:spPr>
        <p:txBody>
          <a:bodyPr wrap="square" lIns="0" tIns="0" rIns="0" bIns="0" rtlCol="0" anchor="ctr"/>
          <a:lstStyle/>
          <a:p>
            <a:pPr marL="0" indent="0" algn="ctr">
              <a:buNone/>
            </a:pPr>
            <a:r>
              <a:rPr lang="en-US" sz="1800" b="1" dirty="0">
                <a:solidFill>
                  <a:schemeClr val="bg1"/>
                </a:solidFill>
                <a:latin typeface="Arial" pitchFamily="34" charset="0"/>
                <a:ea typeface="Arial" pitchFamily="34" charset="-122"/>
                <a:cs typeface="Arial" pitchFamily="34" charset="-120"/>
              </a:rPr>
              <a:t>Robin</a:t>
            </a:r>
            <a:endParaRPr lang="en-US" sz="1800" dirty="0"/>
          </a:p>
        </p:txBody>
      </p:sp>
      <p:sp>
        <p:nvSpPr>
          <p:cNvPr id="19" name="Text 17"/>
          <p:cNvSpPr txBox="1"/>
          <p:nvPr/>
        </p:nvSpPr>
        <p:spPr>
          <a:xfrm>
            <a:off x="7406640" y="4279718"/>
            <a:ext cx="1920240" cy="548640"/>
          </a:xfrm>
          <a:prstGeom prst="rect">
            <a:avLst/>
          </a:prstGeom>
          <a:noFill/>
          <a:ln/>
        </p:spPr>
        <p:txBody>
          <a:bodyPr wrap="square" lIns="0" tIns="0" rIns="0" bIns="0" rtlCol="0" anchor="t"/>
          <a:lstStyle/>
          <a:p>
            <a:pPr marL="0" indent="0" algn="ctr">
              <a:buNone/>
            </a:pPr>
            <a:r>
              <a:rPr lang="en-US" sz="1300" dirty="0">
                <a:solidFill>
                  <a:schemeClr val="accent2"/>
                </a:solidFill>
                <a:latin typeface="Arial" pitchFamily="34" charset="0"/>
                <a:ea typeface="Arial" pitchFamily="34" charset="-122"/>
                <a:cs typeface="Arial" pitchFamily="34" charset="-120"/>
              </a:rPr>
              <a:t>Engineer</a:t>
            </a:r>
            <a:endParaRPr lang="en-US" sz="1300" dirty="0"/>
          </a:p>
        </p:txBody>
      </p:sp>
      <p:sp>
        <p:nvSpPr>
          <p:cNvPr id="20" name="Lucas avatar"/>
          <p:cNvSpPr/>
          <p:nvPr/>
        </p:nvSpPr>
        <p:spPr>
          <a:xfrm>
            <a:off x="9966960" y="2496638"/>
            <a:ext cx="1280160" cy="1280160"/>
          </a:xfrm>
          <a:prstGeom prst="ellipse">
            <a:avLst/>
          </a:prstGeom>
          <a:solidFill>
            <a:schemeClr val="accent1"/>
          </a:solidFill>
          <a:ln w="38100">
            <a:solidFill>
              <a:schemeClr val="bg1"/>
            </a:solidFill>
            <a:prstDash val="solid"/>
          </a:ln>
        </p:spPr>
        <p:txBody>
          <a:bodyPr/>
          <a:lstStyle/>
          <a:p>
            <a:endParaRPr lang="zh-CN" altLang="en-US"/>
          </a:p>
        </p:txBody>
      </p:sp>
      <p:sp>
        <p:nvSpPr>
          <p:cNvPr id="21" name="Text 19"/>
          <p:cNvSpPr txBox="1"/>
          <p:nvPr/>
        </p:nvSpPr>
        <p:spPr>
          <a:xfrm>
            <a:off x="9966960" y="2496638"/>
            <a:ext cx="1280160" cy="1280160"/>
          </a:xfrm>
          <a:prstGeom prst="rect">
            <a:avLst/>
          </a:prstGeom>
          <a:noFill/>
          <a:ln/>
        </p:spPr>
        <p:txBody>
          <a:bodyPr wrap="square" lIns="0" tIns="0" rIns="0" bIns="0" rtlCol="0" anchor="ctr"/>
          <a:lstStyle/>
          <a:p>
            <a:pPr marL="0" indent="0" algn="ctr">
              <a:buNone/>
            </a:pPr>
            <a:r>
              <a:rPr lang="en-US" sz="3600" b="1" dirty="0">
                <a:solidFill>
                  <a:schemeClr val="bg1"/>
                </a:solidFill>
                <a:latin typeface="Arial" pitchFamily="34" charset="0"/>
                <a:ea typeface="Arial" pitchFamily="34" charset="-122"/>
                <a:cs typeface="Arial" pitchFamily="34" charset="-120"/>
              </a:rPr>
              <a:t>L</a:t>
            </a:r>
            <a:endParaRPr lang="en-US" sz="3600" dirty="0"/>
          </a:p>
        </p:txBody>
      </p:sp>
      <p:sp>
        <p:nvSpPr>
          <p:cNvPr id="22" name="Text 20"/>
          <p:cNvSpPr txBox="1"/>
          <p:nvPr/>
        </p:nvSpPr>
        <p:spPr>
          <a:xfrm>
            <a:off x="9738360" y="3913958"/>
            <a:ext cx="1737360" cy="365760"/>
          </a:xfrm>
          <a:prstGeom prst="rect">
            <a:avLst/>
          </a:prstGeom>
          <a:noFill/>
          <a:ln/>
        </p:spPr>
        <p:txBody>
          <a:bodyPr wrap="square" lIns="0" tIns="0" rIns="0" bIns="0" rtlCol="0" anchor="ctr"/>
          <a:lstStyle/>
          <a:p>
            <a:pPr marL="0" indent="0" algn="ctr">
              <a:buNone/>
            </a:pPr>
            <a:r>
              <a:rPr lang="en-US" sz="1800" b="1" dirty="0">
                <a:solidFill>
                  <a:schemeClr val="bg1"/>
                </a:solidFill>
                <a:latin typeface="Arial" pitchFamily="34" charset="0"/>
                <a:ea typeface="Arial" pitchFamily="34" charset="-122"/>
                <a:cs typeface="Arial" pitchFamily="34" charset="-120"/>
              </a:rPr>
              <a:t>Lucas</a:t>
            </a:r>
            <a:endParaRPr lang="en-US" sz="1800" dirty="0"/>
          </a:p>
        </p:txBody>
      </p:sp>
      <p:sp>
        <p:nvSpPr>
          <p:cNvPr id="23" name="Text 21"/>
          <p:cNvSpPr txBox="1"/>
          <p:nvPr/>
        </p:nvSpPr>
        <p:spPr>
          <a:xfrm>
            <a:off x="9646920" y="4279718"/>
            <a:ext cx="1920240" cy="548640"/>
          </a:xfrm>
          <a:prstGeom prst="rect">
            <a:avLst/>
          </a:prstGeom>
          <a:noFill/>
          <a:ln/>
        </p:spPr>
        <p:txBody>
          <a:bodyPr wrap="square" lIns="0" tIns="0" rIns="0" bIns="0" rtlCol="0" anchor="t"/>
          <a:lstStyle/>
          <a:p>
            <a:pPr marL="0" indent="0" algn="ctr">
              <a:buNone/>
            </a:pPr>
            <a:r>
              <a:rPr lang="en-US" sz="1300" dirty="0">
                <a:solidFill>
                  <a:schemeClr val="accent2"/>
                </a:solidFill>
                <a:latin typeface="Arial" pitchFamily="34" charset="0"/>
                <a:ea typeface="Arial" pitchFamily="34" charset="-122"/>
                <a:cs typeface="Arial" pitchFamily="34" charset="-120"/>
              </a:rPr>
              <a:t>Engineer</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2"/>
                </a:solidFill>
              </a:defRPr>
            </a:lvl1pPr>
          </a:lstStyle>
          <a:p>
            <a:pPr algn="r"/>
            <a:fld id="{F7021451-1387-4CA6-816F-3879F97B5CBC}" type="slidenum">
              <a:rPr lang="en-US" b="0"/>
              <a:t>9</a:t>
            </a:fld>
            <a:endParaRPr lang="en-US"/>
          </a:p>
        </p:txBody>
      </p:sp>
      <p:pic>
        <p:nvPicPr>
          <p:cNvPr id="27" name="图片 26">
            <a:extLst>
              <a:ext uri="{FF2B5EF4-FFF2-40B4-BE49-F238E27FC236}">
                <a16:creationId xmlns:a16="http://schemas.microsoft.com/office/drawing/2014/main" id="{422FD6A0-76B3-54CB-39B2-98E143AB418C}"/>
              </a:ext>
            </a:extLst>
          </p:cNvPr>
          <p:cNvPicPr>
            <a:picLocks noChangeAspect="1"/>
          </p:cNvPicPr>
          <p:nvPr/>
        </p:nvPicPr>
        <p:blipFill>
          <a:blip r:embed="rId3"/>
          <a:stretch>
            <a:fillRect/>
          </a:stretch>
        </p:blipFill>
        <p:spPr>
          <a:xfrm>
            <a:off x="-26936" y="0"/>
            <a:ext cx="3184071" cy="10613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50B818-E62F-02A4-9F53-0B72FDA56FF3}"/>
              </a:ext>
            </a:extLst>
          </p:cNvPr>
          <p:cNvSpPr>
            <a:spLocks noGrp="1"/>
          </p:cNvSpPr>
          <p:nvPr>
            <p:ph type="title" idx="100"/>
          </p:nvPr>
        </p:nvSpPr>
        <p:spPr/>
        <p:txBody>
          <a:bodyPr/>
          <a:lstStyle/>
          <a:p>
            <a:endParaRPr kumimoji="1" lang="zh-CN" altLang="en-US"/>
          </a:p>
        </p:txBody>
      </p:sp>
      <p:pic>
        <p:nvPicPr>
          <p:cNvPr id="3" name="图片 2">
            <a:extLst>
              <a:ext uri="{FF2B5EF4-FFF2-40B4-BE49-F238E27FC236}">
                <a16:creationId xmlns:a16="http://schemas.microsoft.com/office/drawing/2014/main" id="{71E52E7D-C70D-639C-DA2A-8C4B5AD32329}"/>
              </a:ext>
            </a:extLst>
          </p:cNvPr>
          <p:cNvPicPr>
            <a:picLocks noChangeAspect="1"/>
          </p:cNvPicPr>
          <p:nvPr/>
        </p:nvPicPr>
        <p:blipFill>
          <a:blip r:embed="rId3"/>
          <a:stretch>
            <a:fillRect/>
          </a:stretch>
        </p:blipFill>
        <p:spPr>
          <a:xfrm>
            <a:off x="-1" y="0"/>
            <a:ext cx="12191695" cy="6858735"/>
          </a:xfrm>
          <a:prstGeom prst="rect">
            <a:avLst/>
          </a:prstGeom>
        </p:spPr>
      </p:pic>
    </p:spTree>
    <p:extLst>
      <p:ext uri="{BB962C8B-B14F-4D97-AF65-F5344CB8AC3E}">
        <p14:creationId xmlns:p14="http://schemas.microsoft.com/office/powerpoint/2010/main" val="238411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1064240" cy="822960"/>
          </a:xfrm>
          <a:prstGeom prst="rect">
            <a:avLst/>
          </a:prstGeom>
          <a:noFill/>
          <a:ln/>
        </p:spPr>
        <p:txBody>
          <a:bodyPr wrap="square" lIns="0" tIns="0" rIns="0" bIns="0" rtlCol="0" anchor="t"/>
          <a:lstStyle/>
          <a:p>
            <a:pPr marL="0" indent="0" algn="l">
              <a:buNone/>
            </a:pPr>
            <a:r>
              <a:rPr lang="en-US" sz="3000" b="1" dirty="0">
                <a:solidFill>
                  <a:schemeClr val="tx2"/>
                </a:solidFill>
              </a:rPr>
              <a:t>Appendix 1: interview evidence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2377440"/>
        </p:xfrm>
        <a:graphic>
          <a:graphicData uri="http://schemas.openxmlformats.org/drawingml/2006/table">
            <a:tbl>
              <a:tblPr/>
              <a:tblGrid>
                <a:gridCol w="29260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0">
                <a:tc>
                  <a:txBody>
                    <a:bodyPr/>
                    <a:lstStyle/>
                    <a:p>
                      <a:pPr marL="0" indent="0">
                        <a:buNone/>
                      </a:pPr>
                      <a:r>
                        <a:rPr lang="en-US" sz="1200" b="1" dirty="0">
                          <a:solidFill>
                            <a:schemeClr val="bg1"/>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What we heard</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Product decision</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A1 · Joanna’s father, caregiver</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Unsure which department to book; hard to get appointments with senior specialists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Record as need; booking out of v1</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A2 · Joanna’s mother, chronic condition</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Short visits; wants to know why a drug, for how long, what risks; already asks AI</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Tap any line to ask, grounded in the record</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B1 · Ronnie’s mother</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Hard to ask again after leaving; side-effect worries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Questions saved for clarification</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B2 · Ronnie’s father, type 2 diabetes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Writes questions before visits; forgets doses; routines and social life interfere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Doctor summary; reminders and check-ins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C · Nancy’s family</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Unclear instructions; nursing view stresses structured history; doubts about pre-visit tools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Short, patient-reviewed summary that never replaces history-taking</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669280"/>
            <a:ext cx="11064240" cy="411480"/>
          </a:xfrm>
          <a:prstGeom prst="rect">
            <a:avLst/>
          </a:prstGeom>
          <a:noFill/>
          <a:ln/>
        </p:spPr>
        <p:txBody>
          <a:bodyPr wrap="square" lIns="0" tIns="0" rIns="0" bIns="0" rtlCol="0" anchor="ctr"/>
          <a:lstStyle/>
          <a:p>
            <a:pPr marL="0" indent="0">
              <a:buNone/>
            </a:pPr>
            <a:r>
              <a:rPr lang="en-US" sz="1200" dirty="0">
                <a:solidFill>
                  <a:schemeClr val="accent5"/>
                </a:solidFill>
                <a:latin typeface="Arial" pitchFamily="34" charset="0"/>
                <a:ea typeface="Arial" pitchFamily="34" charset="-122"/>
                <a:cs typeface="Arial" pitchFamily="34" charset="-120"/>
              </a:rPr>
              <a:t>Convenience sample from team families in China. Notes and relayed accounts, not verbatim transcripts. Participant count for C to be confirmed.</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1064240" cy="822960"/>
          </a:xfrm>
          <a:prstGeom prst="rect">
            <a:avLst/>
          </a:prstGeom>
          <a:noFill/>
          <a:ln/>
        </p:spPr>
        <p:txBody>
          <a:bodyPr wrap="square" lIns="0" tIns="0" rIns="0" bIns="0" rtlCol="0" anchor="t"/>
          <a:lstStyle/>
          <a:p>
            <a:pPr marL="0" indent="0" algn="l">
              <a:buNone/>
            </a:pPr>
            <a:r>
              <a:rPr lang="en-US" sz="3000" b="1" dirty="0">
                <a:solidFill>
                  <a:schemeClr val="tx2"/>
                </a:solidFill>
              </a:rPr>
              <a:t>Appendix 2: problem data sources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1737360"/>
        </p:xfrm>
        <a:graphic>
          <a:graphicData uri="http://schemas.openxmlformats.org/drawingml/2006/table">
            <a:tbl>
              <a:tblPr/>
              <a:tblGrid>
                <a:gridCol w="2743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indent="0">
                        <a:buNone/>
                      </a:pPr>
                      <a:r>
                        <a:rPr lang="en-US" sz="1200" b="1" dirty="0">
                          <a:solidFill>
                            <a:schemeClr val="bg1"/>
                          </a:solidFill>
                          <a:latin typeface="Arial" pitchFamily="34" charset="0"/>
                          <a:ea typeface="Arial" pitchFamily="34" charset="-122"/>
                          <a:cs typeface="Arial" pitchFamily="34" charset="-120"/>
                        </a:rPr>
                        <a:t>Figure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Source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Caveat</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10.15 billion visits in 2024</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National Health Commission of China, 2024 Statistical Bulletin on Health Development (Dec 2025)</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All healthcare institutions, not only outpatient clinics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~3 min consultation, ~40 min wait</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Implementation report on a large tertiary hospital in China, JMIR, PMC12396732 (2019–2022 data)</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One hospital, not a national average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10–15 min US consultation</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Cited in the same report</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Secondary citation</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buNone/>
                      </a:pPr>
                      <a:r>
                        <a:rPr lang="en-US" sz="1200" dirty="0">
                          <a:solidFill>
                            <a:schemeClr val="tx1"/>
                          </a:solidFill>
                          <a:latin typeface="Arial" pitchFamily="34" charset="0"/>
                          <a:ea typeface="Arial" pitchFamily="34" charset="-122"/>
                          <a:cs typeface="Arial" pitchFamily="34" charset="-120"/>
                        </a:rPr>
                        <a:t>≤ 5 min for half the world</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Irving et al., BMJ Open 2017, systematic review of 67 countries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Primary care; older data</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365760"/>
            <a:ext cx="11064240" cy="822960"/>
          </a:xfrm>
          <a:prstGeom prst="rect">
            <a:avLst/>
          </a:prstGeom>
          <a:noFill/>
          <a:ln/>
        </p:spPr>
        <p:txBody>
          <a:bodyPr wrap="square" lIns="0" tIns="0" rIns="0" bIns="0" rtlCol="0" anchor="t"/>
          <a:lstStyle/>
          <a:p>
            <a:pPr marL="0" indent="0" algn="l">
              <a:buNone/>
            </a:pPr>
            <a:r>
              <a:rPr lang="en-US" sz="3000" b="1" dirty="0">
                <a:solidFill>
                  <a:schemeClr val="tx2"/>
                </a:solidFill>
              </a:rPr>
              <a:t>Appendix 3: how it is built, and what is not ready</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035040" cy="251460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502920">
                <a:tc>
                  <a:txBody>
                    <a:bodyPr/>
                    <a:lstStyle/>
                    <a:p>
                      <a:pPr marL="0" indent="0">
                        <a:buNone/>
                      </a:pPr>
                      <a:r>
                        <a:rPr lang="en-US" sz="1200" b="1" dirty="0">
                          <a:solidFill>
                            <a:schemeClr val="bg1"/>
                          </a:solidFill>
                          <a:latin typeface="Arial" pitchFamily="34" charset="0"/>
                          <a:ea typeface="Arial" pitchFamily="34" charset="-122"/>
                          <a:cs typeface="Arial" pitchFamily="34" charset="-120"/>
                        </a:rPr>
                        <a:t>Layer</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What it does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latin typeface="Arial" pitchFamily="34" charset="0"/>
                          <a:ea typeface="Arial" pitchFamily="34" charset="-122"/>
                          <a:cs typeface="Arial" pitchFamily="34" charset="-120"/>
                        </a:rPr>
                        <a:t>Built with</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chemeClr val="tx1"/>
                          </a:solidFill>
                          <a:latin typeface="Arial" pitchFamily="34" charset="0"/>
                          <a:ea typeface="Arial" pitchFamily="34" charset="-122"/>
                          <a:cs typeface="Arial" pitchFamily="34" charset="-120"/>
                        </a:rPr>
                        <a:t>Interface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Capture, review, reminders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Next.js and React</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chemeClr val="tx1"/>
                          </a:solidFill>
                          <a:latin typeface="Arial" pitchFamily="34" charset="0"/>
                          <a:ea typeface="Arial" pitchFamily="34" charset="-122"/>
                          <a:cs typeface="Arial" pitchFamily="34" charset="-120"/>
                        </a:rPr>
                        <a:t>Workflow</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Routing, episode state, actions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TypeScript rules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chemeClr val="tx1"/>
                          </a:solidFill>
                          <a:latin typeface="Arial" pitchFamily="34" charset="0"/>
                          <a:ea typeface="Arial" pitchFamily="34" charset="-122"/>
                          <a:cs typeface="Arial" pitchFamily="34" charset="-120"/>
                        </a:rPr>
                        <a:t>Language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Intake, extraction, explanations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GLM API, rule fallback for text</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chemeClr val="tx1"/>
                          </a:solidFill>
                          <a:latin typeface="Arial" pitchFamily="34" charset="0"/>
                          <a:ea typeface="Arial" pitchFamily="34" charset="-122"/>
                          <a:cs typeface="Arial" pitchFamily="34" charset="-120"/>
                        </a:rPr>
                        <a:t>Storage</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Isolated accounts, encrypted records</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latin typeface="Arial" pitchFamily="34" charset="0"/>
                          <a:ea typeface="Arial" pitchFamily="34" charset="-122"/>
                          <a:cs typeface="Arial" pitchFamily="34" charset="-120"/>
                        </a:rPr>
                        <a:t>SQLite, AES-256-GCM</a:t>
                      </a:r>
                      <a:endParaRPr lang="en-US" sz="1200" dirty="0">
                        <a:latin typeface="Arial" charset="0"/>
                        <a:ea typeface="Arial" charset="0"/>
                        <a:cs typeface="Arial" charset="0"/>
                      </a:endParaRPr>
                    </a:p>
                  </a:txBody>
                  <a:tcPr anchor="ctr">
                    <a:lnL w="9525" cap="flat" cmpd="sng" algn="ctr">
                      <a:solidFill>
                        <a:srgbClr val="D9EBE4"/>
                      </a:solidFill>
                      <a:prstDash val="solid"/>
                      <a:round/>
                      <a:headEnd type="none" w="med" len="med"/>
                      <a:tailEnd type="none" w="med" len="med"/>
                    </a:lnL>
                    <a:lnR w="9525" cap="flat" cmpd="sng" algn="ctr">
                      <a:solidFill>
                        <a:srgbClr val="D9EBE4"/>
                      </a:solidFill>
                      <a:prstDash val="solid"/>
                      <a:round/>
                      <a:headEnd type="none" w="med" len="med"/>
                      <a:tailEnd type="none" w="med" len="med"/>
                    </a:lnR>
                    <a:lnT w="9525" cap="flat" cmpd="sng" algn="ctr">
                      <a:solidFill>
                        <a:srgbClr val="D9EBE4"/>
                      </a:solidFill>
                      <a:prstDash val="solid"/>
                      <a:round/>
                      <a:headEnd type="none" w="med" len="med"/>
                      <a:tailEnd type="none" w="med" len="med"/>
                    </a:lnT>
                    <a:lnB w="9525" cap="flat" cmpd="sng" algn="ctr">
                      <a:solidFill>
                        <a:srgbClr val="D9EB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limits"/>
          <p:cNvSpPr/>
          <p:nvPr/>
        </p:nvSpPr>
        <p:spPr>
          <a:xfrm>
            <a:off x="6903720" y="1325880"/>
            <a:ext cx="4709160" cy="2651760"/>
          </a:xfrm>
          <a:prstGeom prst="roundRect">
            <a:avLst>
              <a:gd name="adj" fmla="val 4138"/>
            </a:avLst>
          </a:prstGeom>
          <a:solidFill>
            <a:schemeClr val="accent4"/>
          </a:solidFill>
          <a:ln/>
        </p:spPr>
        <p:txBody>
          <a:bodyPr/>
          <a:lstStyle/>
          <a:p>
            <a:endParaRPr lang="zh-CN" altLang="en-US"/>
          </a:p>
        </p:txBody>
      </p:sp>
      <p:sp>
        <p:nvSpPr>
          <p:cNvPr id="5" name="Text 2"/>
          <p:cNvSpPr txBox="1"/>
          <p:nvPr/>
        </p:nvSpPr>
        <p:spPr>
          <a:xfrm>
            <a:off x="7178040" y="1554480"/>
            <a:ext cx="4206240" cy="411480"/>
          </a:xfrm>
          <a:prstGeom prst="rect">
            <a:avLst/>
          </a:prstGeom>
          <a:noFill/>
          <a:ln/>
        </p:spPr>
        <p:txBody>
          <a:bodyPr wrap="square" lIns="0" tIns="0" rIns="0" bIns="0" rtlCol="0" anchor="ctr"/>
          <a:lstStyle/>
          <a:p>
            <a:pPr marL="0" indent="0">
              <a:buNone/>
            </a:pPr>
            <a:r>
              <a:rPr lang="en-US" sz="1800" b="1" dirty="0">
                <a:solidFill>
                  <a:schemeClr val="tx2"/>
                </a:solidFill>
                <a:latin typeface="Arial" pitchFamily="34" charset="0"/>
                <a:ea typeface="Arial" pitchFamily="34" charset="-122"/>
                <a:cs typeface="Arial" pitchFamily="34" charset="-120"/>
              </a:rPr>
              <a:t>Not ready yet</a:t>
            </a:r>
            <a:endParaRPr lang="en-US" sz="1800" dirty="0"/>
          </a:p>
        </p:txBody>
      </p:sp>
      <p:sp>
        <p:nvSpPr>
          <p:cNvPr id="6" name="Text 3"/>
          <p:cNvSpPr txBox="1"/>
          <p:nvPr/>
        </p:nvSpPr>
        <p:spPr>
          <a:xfrm>
            <a:off x="7178040" y="2057400"/>
            <a:ext cx="420624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AI responses and safety rules are in Chinese</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Reminders work while the app is open</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Voice and photo need a configured model key</a:t>
            </a:r>
            <a:endParaRPr lang="en-US" sz="1400" dirty="0"/>
          </a:p>
          <a:p>
            <a:pPr marL="342900" indent="-342900">
              <a:spcAft>
                <a:spcPts val="800"/>
              </a:spcAft>
              <a:buSzPct val="100000"/>
              <a:buChar char="•"/>
            </a:pPr>
            <a:r>
              <a:rPr lang="en-US" sz="1400" dirty="0">
                <a:solidFill>
                  <a:schemeClr val="tx1"/>
                </a:solidFill>
                <a:latin typeface="Arial" pitchFamily="34" charset="0"/>
                <a:ea typeface="Arial" pitchFamily="34" charset="-122"/>
                <a:cs typeface="Arial" pitchFamily="34" charset="-120"/>
              </a:rPr>
              <a:t>No clinical, usage or revenue results yet</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VisitSmoothie">
  <a:themeElements>
    <a:clrScheme name="VisitSmoothie">
      <a:dk1>
        <a:srgbClr val="1F3B33"/>
      </a:dk1>
      <a:lt1>
        <a:srgbClr val="FFFFFF"/>
      </a:lt1>
      <a:dk2>
        <a:srgbClr val="24503F"/>
      </a:dk2>
      <a:lt2>
        <a:srgbClr val="F3F4F3"/>
      </a:lt2>
      <a:accent1>
        <a:srgbClr val="2F6B5A"/>
      </a:accent1>
      <a:accent2>
        <a:srgbClr val="7FB3A3"/>
      </a:accent2>
      <a:accent3>
        <a:srgbClr val="E8954A"/>
      </a:accent3>
      <a:accent4>
        <a:srgbClr val="D9EBE4"/>
      </a:accent4>
      <a:accent5>
        <a:srgbClr val="5E8C7C"/>
      </a:accent5>
      <a:accent6>
        <a:srgbClr val="8A9A95"/>
      </a:accent6>
      <a:hlink>
        <a:srgbClr val="2F6B5A"/>
      </a:hlink>
      <a:folHlink>
        <a:srgbClr val="5E8C7C"/>
      </a:folHlink>
    </a:clrScheme>
    <a:fontScheme name="VisitSmoothi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2611</Words>
  <Application>Microsoft Macintosh PowerPoint</Application>
  <PresentationFormat>宽屏</PresentationFormat>
  <Paragraphs>176</Paragraphs>
  <Slides>13</Slides>
  <Notes>13</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Arial</vt:lpstr>
      <vt:lpstr>VisitSmoothie</vt:lpstr>
      <vt:lpstr>PowerPoint 演示文稿</vt:lpstr>
      <vt:lpstr>Problem: The Visit Is Short. The Information Isn’t.</vt:lpstr>
      <vt:lpstr>What Patients Struggle With Before and After the Visit</vt:lpstr>
      <vt:lpstr>Two jobs, one record: prepare the story, follow the plan</vt:lpstr>
      <vt:lpstr>How It Works: The Agentic Workflow</vt:lpstr>
      <vt:lpstr>Live Demo Time</vt:lpstr>
      <vt:lpstr>Competitive landscape</vt:lpstr>
      <vt:lpstr>PowerPoint 演示文稿</vt:lpstr>
      <vt:lpstr>PowerPoint 演示文稿</vt:lpstr>
      <vt:lpstr>PowerPoint 演示文稿</vt:lpstr>
      <vt:lpstr>Appendix 1: interview evidence</vt:lpstr>
      <vt:lpstr>Appendix 2: problem data sources</vt:lpstr>
      <vt:lpstr>Appendix 3: how it is built, and what is not ready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VisitSmoothie Pitch</dc:title>
  <dc:subject>PptxGenJS Presentation</dc:subject>
  <dc:creator>PptxGenJS</dc:creator>
  <cp:lastModifiedBy>Janna | 赵璟嫣</cp:lastModifiedBy>
  <cp:revision>8</cp:revision>
  <dcterms:created xsi:type="dcterms:W3CDTF">2026-10-04T16:04:55Z</dcterms:created>
  <dcterms:modified xsi:type="dcterms:W3CDTF">2026-10-04T19:49:27Z</dcterms:modified>
</cp:coreProperties>
</file>